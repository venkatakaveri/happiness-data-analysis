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48" r:id="rId1"/>
  </p:sldMasterIdLst>
  <p:notesMasterIdLst>
    <p:notesMasterId r:id="rId17"/>
  </p:notesMasterIdLst>
  <p:handoutMasterIdLst>
    <p:handoutMasterId r:id="rId18"/>
  </p:handoutMasterIdLst>
  <p:sldIdLst>
    <p:sldId id="258" r:id="rId2"/>
    <p:sldId id="268" r:id="rId3"/>
    <p:sldId id="277" r:id="rId4"/>
    <p:sldId id="278" r:id="rId5"/>
    <p:sldId id="279" r:id="rId6"/>
    <p:sldId id="281" r:id="rId7"/>
    <p:sldId id="282" r:id="rId8"/>
    <p:sldId id="283" r:id="rId9"/>
    <p:sldId id="284" r:id="rId10"/>
    <p:sldId id="285" r:id="rId11"/>
    <p:sldId id="286" r:id="rId12"/>
    <p:sldId id="287" r:id="rId13"/>
    <p:sldId id="288" r:id="rId14"/>
    <p:sldId id="290"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67A"/>
    <a:srgbClr val="0D1D51"/>
    <a:srgbClr val="0072C7"/>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87949" autoAdjust="0"/>
  </p:normalViewPr>
  <p:slideViewPr>
    <p:cSldViewPr snapToGrid="0" showGuides="1">
      <p:cViewPr varScale="1">
        <p:scale>
          <a:sx n="70" d="100"/>
          <a:sy n="70" d="100"/>
        </p:scale>
        <p:origin x="788" y="788"/>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00" d="100"/>
          <a:sy n="100" d="100"/>
        </p:scale>
        <p:origin x="1560" y="-14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243D74-B9C1-450A-B0F3-6C6DCB0CF2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2C27C33-9BB1-41D5-A236-12767E7E72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AB3EA8-A58D-4C92-A3AB-D271CCC294C7}" type="datetimeFigureOut">
              <a:rPr lang="en-US" smtClean="0"/>
              <a:t>9/8/2023</a:t>
            </a:fld>
            <a:endParaRPr lang="en-US" dirty="0"/>
          </a:p>
        </p:txBody>
      </p:sp>
      <p:sp>
        <p:nvSpPr>
          <p:cNvPr id="4" name="Footer Placeholder 3">
            <a:extLst>
              <a:ext uri="{FF2B5EF4-FFF2-40B4-BE49-F238E27FC236}">
                <a16:creationId xmlns:a16="http://schemas.microsoft.com/office/drawing/2014/main" id="{44A7EADB-04A4-4093-B238-438E2C7317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DDD8696-706D-440E-AE04-4C644F061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2A5DE8-F2C4-4DB3-88D1-656DCD59E73E}" type="slidenum">
              <a:rPr lang="en-US" smtClean="0"/>
              <a:t>‹#›</a:t>
            </a:fld>
            <a:endParaRPr lang="en-US" dirty="0"/>
          </a:p>
        </p:txBody>
      </p:sp>
    </p:spTree>
    <p:extLst>
      <p:ext uri="{BB962C8B-B14F-4D97-AF65-F5344CB8AC3E}">
        <p14:creationId xmlns:p14="http://schemas.microsoft.com/office/powerpoint/2010/main" val="17898243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EFB4FA-E877-413E-B608-88789D806C57}" type="datetimeFigureOut">
              <a:rPr lang="en-US" noProof="0" smtClean="0"/>
              <a:t>9/8/2023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36304E-FDE3-4B4F-A3B7-EBE87F3FA5E2}" type="slidenum">
              <a:rPr lang="en-US" noProof="0" smtClean="0"/>
              <a:t>‹#›</a:t>
            </a:fld>
            <a:endParaRPr lang="en-US"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a:t>
            </a:fld>
            <a:endParaRPr lang="en-US"/>
          </a:p>
        </p:txBody>
      </p:sp>
    </p:spTree>
    <p:extLst>
      <p:ext uri="{BB962C8B-B14F-4D97-AF65-F5344CB8AC3E}">
        <p14:creationId xmlns:p14="http://schemas.microsoft.com/office/powerpoint/2010/main" val="3179795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2</a:t>
            </a:fld>
            <a:endParaRPr lang="en-US"/>
          </a:p>
        </p:txBody>
      </p:sp>
    </p:spTree>
    <p:extLst>
      <p:ext uri="{BB962C8B-B14F-4D97-AF65-F5344CB8AC3E}">
        <p14:creationId xmlns:p14="http://schemas.microsoft.com/office/powerpoint/2010/main" val="224316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3</a:t>
            </a:fld>
            <a:endParaRPr lang="en-US"/>
          </a:p>
        </p:txBody>
      </p:sp>
    </p:spTree>
    <p:extLst>
      <p:ext uri="{BB962C8B-B14F-4D97-AF65-F5344CB8AC3E}">
        <p14:creationId xmlns:p14="http://schemas.microsoft.com/office/powerpoint/2010/main" val="2963023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4</a:t>
            </a:fld>
            <a:endParaRPr lang="en-US"/>
          </a:p>
        </p:txBody>
      </p:sp>
    </p:spTree>
    <p:extLst>
      <p:ext uri="{BB962C8B-B14F-4D97-AF65-F5344CB8AC3E}">
        <p14:creationId xmlns:p14="http://schemas.microsoft.com/office/powerpoint/2010/main" val="1571052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5</a:t>
            </a:fld>
            <a:endParaRPr lang="en-US"/>
          </a:p>
        </p:txBody>
      </p:sp>
    </p:spTree>
    <p:extLst>
      <p:ext uri="{BB962C8B-B14F-4D97-AF65-F5344CB8AC3E}">
        <p14:creationId xmlns:p14="http://schemas.microsoft.com/office/powerpoint/2010/main" val="4042645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6</a:t>
            </a:fld>
            <a:endParaRPr lang="en-US"/>
          </a:p>
        </p:txBody>
      </p:sp>
    </p:spTree>
    <p:extLst>
      <p:ext uri="{BB962C8B-B14F-4D97-AF65-F5344CB8AC3E}">
        <p14:creationId xmlns:p14="http://schemas.microsoft.com/office/powerpoint/2010/main" val="219779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7</a:t>
            </a:fld>
            <a:endParaRPr lang="en-US"/>
          </a:p>
        </p:txBody>
      </p:sp>
    </p:spTree>
    <p:extLst>
      <p:ext uri="{BB962C8B-B14F-4D97-AF65-F5344CB8AC3E}">
        <p14:creationId xmlns:p14="http://schemas.microsoft.com/office/powerpoint/2010/main" val="673279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8</a:t>
            </a:fld>
            <a:endParaRPr lang="en-US"/>
          </a:p>
        </p:txBody>
      </p:sp>
    </p:spTree>
    <p:extLst>
      <p:ext uri="{BB962C8B-B14F-4D97-AF65-F5344CB8AC3E}">
        <p14:creationId xmlns:p14="http://schemas.microsoft.com/office/powerpoint/2010/main" val="1076273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9</a:t>
            </a:fld>
            <a:endParaRPr lang="en-US"/>
          </a:p>
        </p:txBody>
      </p:sp>
    </p:spTree>
    <p:extLst>
      <p:ext uri="{BB962C8B-B14F-4D97-AF65-F5344CB8AC3E}">
        <p14:creationId xmlns:p14="http://schemas.microsoft.com/office/powerpoint/2010/main" val="21233668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10</a:t>
            </a:fld>
            <a:endParaRPr lang="en-US"/>
          </a:p>
        </p:txBody>
      </p:sp>
    </p:spTree>
    <p:extLst>
      <p:ext uri="{BB962C8B-B14F-4D97-AF65-F5344CB8AC3E}">
        <p14:creationId xmlns:p14="http://schemas.microsoft.com/office/powerpoint/2010/main" val="1610101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11</a:t>
            </a:fld>
            <a:endParaRPr lang="en-US"/>
          </a:p>
        </p:txBody>
      </p:sp>
    </p:spTree>
    <p:extLst>
      <p:ext uri="{BB962C8B-B14F-4D97-AF65-F5344CB8AC3E}">
        <p14:creationId xmlns:p14="http://schemas.microsoft.com/office/powerpoint/2010/main" val="3439029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12</a:t>
            </a:fld>
            <a:endParaRPr lang="en-US"/>
          </a:p>
        </p:txBody>
      </p:sp>
    </p:spTree>
    <p:extLst>
      <p:ext uri="{BB962C8B-B14F-4D97-AF65-F5344CB8AC3E}">
        <p14:creationId xmlns:p14="http://schemas.microsoft.com/office/powerpoint/2010/main" val="3508013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13</a:t>
            </a:fld>
            <a:endParaRPr lang="en-US"/>
          </a:p>
        </p:txBody>
      </p:sp>
    </p:spTree>
    <p:extLst>
      <p:ext uri="{BB962C8B-B14F-4D97-AF65-F5344CB8AC3E}">
        <p14:creationId xmlns:p14="http://schemas.microsoft.com/office/powerpoint/2010/main" val="3674031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336304E-FDE3-4B4F-A3B7-EBE87F3FA5E2}" type="slidenum">
              <a:rPr lang="en-US" smtClean="0"/>
              <a:t>14</a:t>
            </a:fld>
            <a:endParaRPr lang="en-US"/>
          </a:p>
        </p:txBody>
      </p:sp>
    </p:spTree>
    <p:extLst>
      <p:ext uri="{BB962C8B-B14F-4D97-AF65-F5344CB8AC3E}">
        <p14:creationId xmlns:p14="http://schemas.microsoft.com/office/powerpoint/2010/main" val="1903038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36304E-FDE3-4B4F-A3B7-EBE87F3FA5E2}" type="slidenum">
              <a:rPr lang="en-US" noProof="0" smtClean="0"/>
              <a:t>15</a:t>
            </a:fld>
            <a:endParaRPr lang="en-US" noProof="0" dirty="0"/>
          </a:p>
        </p:txBody>
      </p:sp>
    </p:spTree>
    <p:extLst>
      <p:ext uri="{BB962C8B-B14F-4D97-AF65-F5344CB8AC3E}">
        <p14:creationId xmlns:p14="http://schemas.microsoft.com/office/powerpoint/2010/main" val="10039034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accent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312605"/>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14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p>
        </p:txBody>
      </p:sp>
      <p:sp>
        <p:nvSpPr>
          <p:cNvPr id="3" name="Text Placeholder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Dummy Text Comes Here</a:t>
            </a:r>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sp>
        <p:nvSpPr>
          <p:cNvPr id="15" name="Picture Placeholder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76"/>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anchor="ctr">
            <a:noAutofit/>
          </a:bodyPr>
          <a:lstStyle>
            <a:lvl1pPr marL="0" indent="0" algn="ctr">
              <a:buNone/>
              <a:defRPr sz="2400"/>
            </a:lvl1pPr>
          </a:lstStyle>
          <a:p>
            <a:r>
              <a:rPr lang="en-US" noProof="0"/>
              <a:t>Click icon to add picture</a:t>
            </a:r>
            <a:endParaRPr lang="en-US" noProof="0" dirty="0"/>
          </a:p>
        </p:txBody>
      </p:sp>
    </p:spTree>
    <p:extLst>
      <p:ext uri="{BB962C8B-B14F-4D97-AF65-F5344CB8AC3E}">
        <p14:creationId xmlns:p14="http://schemas.microsoft.com/office/powerpoint/2010/main" val="27504955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grpSp>
        <p:nvGrpSpPr>
          <p:cNvPr id="10" name="Group 9">
            <a:extLst>
              <a:ext uri="{FF2B5EF4-FFF2-40B4-BE49-F238E27FC236}">
                <a16:creationId xmlns:a16="http://schemas.microsoft.com/office/drawing/2014/main" id="{42E17FB3-B5C4-4B3A-A57B-C6493A9D0C66}"/>
              </a:ext>
            </a:extLst>
          </p:cNvPr>
          <p:cNvGrpSpPr/>
          <p:nvPr userDrawn="1"/>
        </p:nvGrpSpPr>
        <p:grpSpPr>
          <a:xfrm rot="8650774">
            <a:off x="5037655" y="4336093"/>
            <a:ext cx="1905000" cy="2354263"/>
            <a:chOff x="11114088" y="2241550"/>
            <a:chExt cx="1905000" cy="2354263"/>
          </a:xfrm>
          <a:solidFill>
            <a:schemeClr val="bg2"/>
          </a:solidFill>
        </p:grpSpPr>
        <p:sp>
          <p:nvSpPr>
            <p:cNvPr id="11" name="Freeform 5">
              <a:extLst>
                <a:ext uri="{FF2B5EF4-FFF2-40B4-BE49-F238E27FC236}">
                  <a16:creationId xmlns:a16="http://schemas.microsoft.com/office/drawing/2014/main" id="{DCA6C454-F761-4265-BB5E-DFD947CC3592}"/>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2" name="Freeform 6">
              <a:extLst>
                <a:ext uri="{FF2B5EF4-FFF2-40B4-BE49-F238E27FC236}">
                  <a16:creationId xmlns:a16="http://schemas.microsoft.com/office/drawing/2014/main" id="{6B853B2F-9E1C-4AC4-9344-8610498D5B5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7">
              <a:extLst>
                <a:ext uri="{FF2B5EF4-FFF2-40B4-BE49-F238E27FC236}">
                  <a16:creationId xmlns:a16="http://schemas.microsoft.com/office/drawing/2014/main" id="{B7FCC84B-2235-4948-8277-8363DFC691A4}"/>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3" name="Picture Placeholder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3"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anchor="ctr">
            <a:noAutofit/>
          </a:bodyPr>
          <a:lstStyle>
            <a:lvl1pPr marL="0" indent="0" algn="ctr">
              <a:buNone/>
              <a:defRPr/>
            </a:lvl1pPr>
          </a:lstStyle>
          <a:p>
            <a:r>
              <a:rPr lang="en-US" noProof="0"/>
              <a:t>Click icon to add picture</a:t>
            </a:r>
            <a:endParaRPr lang="en-US" noProof="0" dirty="0"/>
          </a:p>
        </p:txBody>
      </p:sp>
      <p:sp>
        <p:nvSpPr>
          <p:cNvPr id="14" name="Title 1">
            <a:extLst>
              <a:ext uri="{FF2B5EF4-FFF2-40B4-BE49-F238E27FC236}">
                <a16:creationId xmlns:a16="http://schemas.microsoft.com/office/drawing/2014/main" id="{2E646B4F-6CCB-724C-9D5E-6D5770023939}"/>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169620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499595"/>
            <a:ext cx="4937211" cy="1325563"/>
          </a:xfrm>
        </p:spPr>
        <p:txBody>
          <a:bodyPr lIns="0" tIns="0" rIns="0" bIns="0">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538960" y="1825625"/>
            <a:ext cx="4914189" cy="4351338"/>
          </a:xfrm>
        </p:spPr>
        <p:txBody>
          <a:bodyPr lIns="0" tIns="0" rIns="0" bIns="0">
            <a:noAutofit/>
          </a:bodyPr>
          <a:lstStyle>
            <a:lvl1pPr>
              <a:defRPr sz="2400"/>
            </a:lvl1pPr>
            <a:lvl2pPr>
              <a:defRPr sz="2000"/>
            </a:lvl2pPr>
            <a:lvl3pPr>
              <a:defRPr sz="1800"/>
            </a:lvl3pPr>
            <a:lvl4pPr>
              <a:defRPr sz="1600"/>
            </a:lvl4pPr>
            <a:lvl5pPr>
              <a:defRPr sz="16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Rectangle 13">
            <a:extLst>
              <a:ext uri="{FF2B5EF4-FFF2-40B4-BE49-F238E27FC236}">
                <a16:creationId xmlns:a16="http://schemas.microsoft.com/office/drawing/2014/main" id="{9D415693-E2CB-4DB4-B07C-2F96B0CAB302}"/>
              </a:ext>
            </a:extLst>
          </p:cNvPr>
          <p:cNvSpPr/>
          <p:nvPr userDrawn="1"/>
        </p:nvSpPr>
        <p:spPr>
          <a:xfrm>
            <a:off x="7854462" y="988536"/>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14C1BF67-E354-4E04-8F94-BABF2B7D1AFB}"/>
              </a:ext>
            </a:extLst>
          </p:cNvPr>
          <p:cNvSpPr/>
          <p:nvPr userDrawn="1"/>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Picture Placeholder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2" y="988536"/>
            <a:ext cx="4884848" cy="4884848"/>
          </a:xfrm>
          <a:prstGeom prst="ellipse">
            <a:avLst/>
          </a:prstGeo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19699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userDrawn="1"/>
        </p:nvSpPr>
        <p:spPr>
          <a:xfrm>
            <a:off x="8308181"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Oval 21">
            <a:extLst>
              <a:ext uri="{FF2B5EF4-FFF2-40B4-BE49-F238E27FC236}">
                <a16:creationId xmlns:a16="http://schemas.microsoft.com/office/drawing/2014/main" id="{E799E3E2-888B-2343-9A63-F84C03265CB5}"/>
              </a:ext>
            </a:extLst>
          </p:cNvPr>
          <p:cNvSpPr>
            <a:spLocks noChangeAspect="1"/>
          </p:cNvSpPr>
          <p:nvPr userDrawn="1"/>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Picture Placeholder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8"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
        <p:nvSpPr>
          <p:cNvPr id="9" name="Rectangle 8">
            <a:extLst>
              <a:ext uri="{FF2B5EF4-FFF2-40B4-BE49-F238E27FC236}">
                <a16:creationId xmlns:a16="http://schemas.microsoft.com/office/drawing/2014/main" id="{3755C1FB-E61C-4BBC-8179-D34908DEA1B6}"/>
              </a:ext>
            </a:extLst>
          </p:cNvPr>
          <p:cNvSpPr/>
          <p:nvPr userDrawn="1"/>
        </p:nvSpPr>
        <p:spPr>
          <a:xfrm>
            <a:off x="0"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8C1E0992-271E-4948-9461-C7AA54AF8FEA}"/>
              </a:ext>
            </a:extLst>
          </p:cNvPr>
          <p:cNvSpPr>
            <a:spLocks noChangeAspect="1"/>
          </p:cNvSpPr>
          <p:nvPr userDrawn="1"/>
        </p:nvSpPr>
        <p:spPr>
          <a:xfrm>
            <a:off x="1526011"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219126" y="3207024"/>
            <a:ext cx="3445566"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6" name="Picture Placeholder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8"/>
            <a:ext cx="4424362" cy="4373217"/>
          </a:xfrm>
          <a:solidFill>
            <a:schemeClr val="bg2">
              <a:lumMod val="90000"/>
            </a:schemeClr>
          </a:solidFill>
        </p:spPr>
        <p:txBody>
          <a:bodyPr anchor="ctr"/>
          <a:lstStyle>
            <a:lvl1pPr marL="0" indent="0" algn="ctr">
              <a:buNone/>
              <a:defRPr/>
            </a:lvl1pPr>
          </a:lstStyle>
          <a:p>
            <a:r>
              <a:rPr lang="en-US" noProof="0"/>
              <a:t>Click icon to add picture</a:t>
            </a:r>
            <a:endParaRPr lang="en-US" noProof="0" dirty="0"/>
          </a:p>
        </p:txBody>
      </p:sp>
      <p:sp>
        <p:nvSpPr>
          <p:cNvPr id="17" name="Content Placeholder 2">
            <a:extLst>
              <a:ext uri="{FF2B5EF4-FFF2-40B4-BE49-F238E27FC236}">
                <a16:creationId xmlns:a16="http://schemas.microsoft.com/office/drawing/2014/main" id="{147C9C38-5B17-467D-B581-EF28ECB11E80}"/>
              </a:ext>
            </a:extLst>
          </p:cNvPr>
          <p:cNvSpPr>
            <a:spLocks noGrp="1"/>
          </p:cNvSpPr>
          <p:nvPr>
            <p:ph idx="14" hasCustomPrompt="1"/>
          </p:nvPr>
        </p:nvSpPr>
        <p:spPr>
          <a:xfrm>
            <a:off x="8527490" y="3207024"/>
            <a:ext cx="3445200" cy="2504663"/>
          </a:xfrm>
        </p:spPr>
        <p:txBody>
          <a:bodyPr lIns="0" tIns="0" rIns="0" bIns="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219126"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1" name="Content Placeholder 2">
            <a:extLst>
              <a:ext uri="{FF2B5EF4-FFF2-40B4-BE49-F238E27FC236}">
                <a16:creationId xmlns:a16="http://schemas.microsoft.com/office/drawing/2014/main" id="{F694448B-800C-40EF-8F61-18C018E8374C}"/>
              </a:ext>
            </a:extLst>
          </p:cNvPr>
          <p:cNvSpPr>
            <a:spLocks noGrp="1"/>
          </p:cNvSpPr>
          <p:nvPr>
            <p:ph idx="16" hasCustomPrompt="1"/>
          </p:nvPr>
        </p:nvSpPr>
        <p:spPr>
          <a:xfrm>
            <a:off x="8527124" y="2711636"/>
            <a:ext cx="3445566" cy="495389"/>
          </a:xfrm>
        </p:spPr>
        <p:txBody>
          <a:bodyPr lIns="0" tIns="0" rIns="0" bIns="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12" name="Picture Placeholder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3"/>
            <a:ext cx="502873" cy="502873"/>
          </a:xfrm>
          <a:prstGeom prst="rect">
            <a:avLst/>
          </a:prstGeom>
          <a:noFill/>
        </p:spPr>
        <p:txBody>
          <a:bodyPr lIns="0" rIns="0" anchor="ctr">
            <a:no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174103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Layou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userDrawn="1"/>
        </p:nvSpPr>
        <p:spPr>
          <a:xfrm>
            <a:off x="6599236" y="4707908"/>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3">
            <a:extLst>
              <a:ext uri="{FF2B5EF4-FFF2-40B4-BE49-F238E27FC236}">
                <a16:creationId xmlns:a16="http://schemas.microsoft.com/office/drawing/2014/main" id="{25CE6D5A-A5C0-4B12-A26A-691D5743FA5C}"/>
              </a:ext>
            </a:extLst>
          </p:cNvPr>
          <p:cNvSpPr/>
          <p:nvPr userDrawn="1"/>
        </p:nvSpPr>
        <p:spPr>
          <a:xfrm>
            <a:off x="-82063" y="1648186"/>
            <a:ext cx="5709139"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0FEE9886-36F0-4E06-A3A6-D8F00B0665A1}"/>
              </a:ext>
            </a:extLst>
          </p:cNvPr>
          <p:cNvSpPr>
            <a:spLocks noGrp="1"/>
          </p:cNvSpPr>
          <p:nvPr>
            <p:ph idx="1" hasCustomPrompt="1"/>
          </p:nvPr>
        </p:nvSpPr>
        <p:spPr>
          <a:xfrm>
            <a:off x="680934" y="2863158"/>
            <a:ext cx="4074002" cy="2846648"/>
          </a:xfrm>
        </p:spPr>
        <p:txBody>
          <a:bodyPr lIns="0" tIns="0" rIns="0" bIns="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accent2"/>
              </a:solidFill>
            </a:endParaRPr>
          </a:p>
        </p:txBody>
      </p:sp>
      <p:pic>
        <p:nvPicPr>
          <p:cNvPr id="8" name="Pictur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B88DD7-AEB5-4718-AF2D-28B5B91ED715}"/>
              </a:ext>
            </a:extLst>
          </p:cNvPr>
          <p:cNvSpPr>
            <a:spLocks noGrp="1"/>
          </p:cNvSpPr>
          <p:nvPr>
            <p:ph idx="15" hasCustomPrompt="1"/>
          </p:nvPr>
        </p:nvSpPr>
        <p:spPr>
          <a:xfrm>
            <a:off x="1309370" y="1903728"/>
            <a:ext cx="3445566" cy="495389"/>
          </a:xfrm>
        </p:spPr>
        <p:txBody>
          <a:bodyPr lIns="0" tIns="0" rIns="0" bIns="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01 comes here</a:t>
            </a:r>
          </a:p>
        </p:txBody>
      </p:sp>
      <p:sp>
        <p:nvSpPr>
          <p:cNvPr id="23" name="Content Placeholder 2">
            <a:extLst>
              <a:ext uri="{FF2B5EF4-FFF2-40B4-BE49-F238E27FC236}">
                <a16:creationId xmlns:a16="http://schemas.microsoft.com/office/drawing/2014/main" id="{E5123CE7-2F8A-489B-BD99-0C2A33ADF49A}"/>
              </a:ext>
            </a:extLst>
          </p:cNvPr>
          <p:cNvSpPr>
            <a:spLocks noGrp="1"/>
          </p:cNvSpPr>
          <p:nvPr>
            <p:ph idx="19" hasCustomPrompt="1"/>
          </p:nvPr>
        </p:nvSpPr>
        <p:spPr>
          <a:xfrm>
            <a:off x="7327918" y="1648186"/>
            <a:ext cx="4074002" cy="2834508"/>
          </a:xfrm>
        </p:spPr>
        <p:txBody>
          <a:bodyPr lIns="0" tIns="0" rIns="0" bIns="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Edit Master text styles</a:t>
            </a:r>
          </a:p>
        </p:txBody>
      </p:sp>
      <p:sp>
        <p:nvSpPr>
          <p:cNvPr id="25" name="Content Placeholder 2">
            <a:extLst>
              <a:ext uri="{FF2B5EF4-FFF2-40B4-BE49-F238E27FC236}">
                <a16:creationId xmlns:a16="http://schemas.microsoft.com/office/drawing/2014/main" id="{07730BCF-AC2A-4FEC-8F01-63964DB444CF}"/>
              </a:ext>
            </a:extLst>
          </p:cNvPr>
          <p:cNvSpPr>
            <a:spLocks noGrp="1"/>
          </p:cNvSpPr>
          <p:nvPr>
            <p:ph idx="20" hasCustomPrompt="1"/>
          </p:nvPr>
        </p:nvSpPr>
        <p:spPr>
          <a:xfrm>
            <a:off x="7475709" y="4963450"/>
            <a:ext cx="3445566" cy="495389"/>
          </a:xfrm>
        </p:spPr>
        <p:txBody>
          <a:bodyPr lIns="0" tIns="0" rIns="0" bIns="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Topic 02 comes here</a:t>
            </a:r>
          </a:p>
        </p:txBody>
      </p:sp>
      <p:sp>
        <p:nvSpPr>
          <p:cNvPr id="21" name="Oval 20">
            <a:extLst>
              <a:ext uri="{FF2B5EF4-FFF2-40B4-BE49-F238E27FC236}">
                <a16:creationId xmlns:a16="http://schemas.microsoft.com/office/drawing/2014/main" id="{919C8692-230B-D543-A7F7-4FD61B04D1C6}"/>
              </a:ext>
            </a:extLst>
          </p:cNvPr>
          <p:cNvSpPr>
            <a:spLocks noChangeAspect="1"/>
          </p:cNvSpPr>
          <p:nvPr userDrawn="1"/>
        </p:nvSpPr>
        <p:spPr>
          <a:xfrm>
            <a:off x="5084763" y="1652762"/>
            <a:ext cx="1001899"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Picture Placeholder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69" y="1850968"/>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
        <p:nvSpPr>
          <p:cNvPr id="28" name="Oval 27">
            <a:extLst>
              <a:ext uri="{FF2B5EF4-FFF2-40B4-BE49-F238E27FC236}">
                <a16:creationId xmlns:a16="http://schemas.microsoft.com/office/drawing/2014/main" id="{F95B55F4-B501-3440-8904-A1C7F049CBE8}"/>
              </a:ext>
            </a:extLst>
          </p:cNvPr>
          <p:cNvSpPr>
            <a:spLocks noChangeAspect="1"/>
          </p:cNvSpPr>
          <p:nvPr userDrawn="1"/>
        </p:nvSpPr>
        <p:spPr>
          <a:xfrm>
            <a:off x="6100576" y="4707907"/>
            <a:ext cx="1001899"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Picture Placeholder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2" y="4906113"/>
            <a:ext cx="605487" cy="605487"/>
          </a:xfrm>
          <a:prstGeom prst="rect">
            <a:avLst/>
          </a:prstGeom>
          <a:noFill/>
        </p:spPr>
        <p:txBody>
          <a:bodyPr lIns="0" rIns="0" anchor="ctr">
            <a:normAutofit/>
          </a:bodyPr>
          <a:lstStyle>
            <a:lvl1pPr marL="0" indent="0" algn="ctr">
              <a:buNone/>
              <a:defRPr sz="1100">
                <a:solidFill>
                  <a:schemeClr val="bg1"/>
                </a:solidFill>
              </a:defRPr>
            </a:lvl1pPr>
          </a:lstStyle>
          <a:p>
            <a:r>
              <a:rPr lang="en-US" noProof="0" dirty="0"/>
              <a:t>icon</a:t>
            </a:r>
          </a:p>
        </p:txBody>
      </p:sp>
    </p:spTree>
    <p:extLst>
      <p:ext uri="{BB962C8B-B14F-4D97-AF65-F5344CB8AC3E}">
        <p14:creationId xmlns:p14="http://schemas.microsoft.com/office/powerpoint/2010/main" val="8914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4B31150-A166-4DB3-A898-2154C9665891}"/>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2" name="Freeform 5">
              <a:extLst>
                <a:ext uri="{FF2B5EF4-FFF2-40B4-BE49-F238E27FC236}">
                  <a16:creationId xmlns:a16="http://schemas.microsoft.com/office/drawing/2014/main" id="{1C1A95BC-42CA-4166-918D-DF4306881408}"/>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3" name="Freeform 6">
              <a:extLst>
                <a:ext uri="{FF2B5EF4-FFF2-40B4-BE49-F238E27FC236}">
                  <a16:creationId xmlns:a16="http://schemas.microsoft.com/office/drawing/2014/main" id="{4B4D5F91-2158-4A30-B83C-5CC9CC6E5D4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4" name="Freeform 7">
              <a:extLst>
                <a:ext uri="{FF2B5EF4-FFF2-40B4-BE49-F238E27FC236}">
                  <a16:creationId xmlns:a16="http://schemas.microsoft.com/office/drawing/2014/main" id="{C509E5D6-79CC-4E1D-AAF4-C6F28F3C1777}"/>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Tree>
    <p:extLst>
      <p:ext uri="{BB962C8B-B14F-4D97-AF65-F5344CB8AC3E}">
        <p14:creationId xmlns:p14="http://schemas.microsoft.com/office/powerpoint/2010/main" val="15647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431CD316-21C7-4FA9-A45A-374D6AE71ED5}"/>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36" name="Freeform 5">
              <a:extLst>
                <a:ext uri="{FF2B5EF4-FFF2-40B4-BE49-F238E27FC236}">
                  <a16:creationId xmlns:a16="http://schemas.microsoft.com/office/drawing/2014/main" id="{E107D9FB-3967-4583-A9DA-6787AF71202C}"/>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7" name="Freeform 6">
              <a:extLst>
                <a:ext uri="{FF2B5EF4-FFF2-40B4-BE49-F238E27FC236}">
                  <a16:creationId xmlns:a16="http://schemas.microsoft.com/office/drawing/2014/main" id="{138D5FEB-37FF-4F26-B625-CE2BE91FF21B}"/>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38" name="Freeform 7">
              <a:extLst>
                <a:ext uri="{FF2B5EF4-FFF2-40B4-BE49-F238E27FC236}">
                  <a16:creationId xmlns:a16="http://schemas.microsoft.com/office/drawing/2014/main" id="{6C2B67E8-673C-422C-B021-296E2E2B952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23" name="Oval 22">
            <a:extLst>
              <a:ext uri="{FF2B5EF4-FFF2-40B4-BE49-F238E27FC236}">
                <a16:creationId xmlns:a16="http://schemas.microsoft.com/office/drawing/2014/main" id="{687010E4-ADF2-486D-8DF7-B0FF38C6DADF}"/>
              </a:ext>
            </a:extLst>
          </p:cNvPr>
          <p:cNvSpPr/>
          <p:nvPr userDrawn="1"/>
        </p:nvSpPr>
        <p:spPr>
          <a:xfrm>
            <a:off x="954140"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4" name="Oval 23">
            <a:extLst>
              <a:ext uri="{FF2B5EF4-FFF2-40B4-BE49-F238E27FC236}">
                <a16:creationId xmlns:a16="http://schemas.microsoft.com/office/drawing/2014/main" id="{9159AA79-2237-4A27-BBC2-D44032158D19}"/>
              </a:ext>
            </a:extLst>
          </p:cNvPr>
          <p:cNvSpPr/>
          <p:nvPr userDrawn="1"/>
        </p:nvSpPr>
        <p:spPr>
          <a:xfrm>
            <a:off x="3807539"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Oval 24">
            <a:extLst>
              <a:ext uri="{FF2B5EF4-FFF2-40B4-BE49-F238E27FC236}">
                <a16:creationId xmlns:a16="http://schemas.microsoft.com/office/drawing/2014/main" id="{0272B962-9566-42D2-B4C3-E7AA81884A83}"/>
              </a:ext>
            </a:extLst>
          </p:cNvPr>
          <p:cNvSpPr/>
          <p:nvPr userDrawn="1"/>
        </p:nvSpPr>
        <p:spPr>
          <a:xfrm>
            <a:off x="6646275"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Oval 25">
            <a:extLst>
              <a:ext uri="{FF2B5EF4-FFF2-40B4-BE49-F238E27FC236}">
                <a16:creationId xmlns:a16="http://schemas.microsoft.com/office/drawing/2014/main" id="{19733285-016C-4C38-816C-83D30C075C70}"/>
              </a:ext>
            </a:extLst>
          </p:cNvPr>
          <p:cNvSpPr/>
          <p:nvPr userDrawn="1"/>
        </p:nvSpPr>
        <p:spPr>
          <a:xfrm>
            <a:off x="949865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EF40DBA4-AB63-4B47-B37F-BCC3D59B5392}"/>
              </a:ext>
            </a:extLst>
          </p:cNvPr>
          <p:cNvSpPr/>
          <p:nvPr userDrawn="1"/>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33EF0AFB-D099-4FF1-8963-7DA87268867F}"/>
              </a:ext>
            </a:extLst>
          </p:cNvPr>
          <p:cNvSpPr/>
          <p:nvPr userDrawn="1"/>
        </p:nvSpPr>
        <p:spPr>
          <a:xfrm>
            <a:off x="6850703"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21">
            <a:extLst>
              <a:ext uri="{FF2B5EF4-FFF2-40B4-BE49-F238E27FC236}">
                <a16:creationId xmlns:a16="http://schemas.microsoft.com/office/drawing/2014/main" id="{6872C96E-9AF3-4FA0-8180-C213C7F2209E}"/>
              </a:ext>
            </a:extLst>
          </p:cNvPr>
          <p:cNvSpPr/>
          <p:nvPr userDrawn="1"/>
        </p:nvSpPr>
        <p:spPr>
          <a:xfrm>
            <a:off x="9703086"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3A08BE29-CFA5-4E0D-9DBE-A430AE1B8072}"/>
              </a:ext>
            </a:extLst>
          </p:cNvPr>
          <p:cNvSpPr/>
          <p:nvPr userDrawn="1"/>
        </p:nvSpPr>
        <p:spPr>
          <a:xfrm>
            <a:off x="1158568"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Titl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pic>
        <p:nvPicPr>
          <p:cNvPr id="8" name="Pictur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Slide Number Placeholder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3" name="Picture Placeholder 2">
            <a:extLst>
              <a:ext uri="{FF2B5EF4-FFF2-40B4-BE49-F238E27FC236}">
                <a16:creationId xmlns:a16="http://schemas.microsoft.com/office/drawing/2014/main" id="{B1B995BE-66C2-4379-885F-4BE069DA39E4}"/>
              </a:ext>
            </a:extLst>
          </p:cNvPr>
          <p:cNvSpPr>
            <a:spLocks noGrp="1"/>
          </p:cNvSpPr>
          <p:nvPr>
            <p:ph type="pic" sz="quarter" idx="13"/>
          </p:nvPr>
        </p:nvSpPr>
        <p:spPr>
          <a:xfrm>
            <a:off x="1103638"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1" name="Picture Placeholder 2">
            <a:extLst>
              <a:ext uri="{FF2B5EF4-FFF2-40B4-BE49-F238E27FC236}">
                <a16:creationId xmlns:a16="http://schemas.microsoft.com/office/drawing/2014/main" id="{9B56B6C6-9F3C-4E80-BBAD-280E697B895C}"/>
              </a:ext>
            </a:extLst>
          </p:cNvPr>
          <p:cNvSpPr>
            <a:spLocks noGrp="1"/>
          </p:cNvSpPr>
          <p:nvPr>
            <p:ph type="pic" sz="quarter" idx="14"/>
          </p:nvPr>
        </p:nvSpPr>
        <p:spPr>
          <a:xfrm>
            <a:off x="3957037"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2" name="Picture Placeholder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3"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13" name="Picture Placeholder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6" y="1848535"/>
            <a:ext cx="1430337" cy="1430337"/>
          </a:xfrm>
          <a:prstGeom prst="ellipse">
            <a:avLst/>
          </a:prstGeom>
          <a:solidFill>
            <a:schemeClr val="bg2"/>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27" name="Content Placeholder 2">
            <a:extLst>
              <a:ext uri="{FF2B5EF4-FFF2-40B4-BE49-F238E27FC236}">
                <a16:creationId xmlns:a16="http://schemas.microsoft.com/office/drawing/2014/main" id="{FF56D2E5-86E4-473A-A62F-B7029E5B2558}"/>
              </a:ext>
            </a:extLst>
          </p:cNvPr>
          <p:cNvSpPr>
            <a:spLocks noGrp="1"/>
          </p:cNvSpPr>
          <p:nvPr>
            <p:ph idx="1"/>
          </p:nvPr>
        </p:nvSpPr>
        <p:spPr>
          <a:xfrm>
            <a:off x="524454"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28" name="Content Placeholder 2">
            <a:extLst>
              <a:ext uri="{FF2B5EF4-FFF2-40B4-BE49-F238E27FC236}">
                <a16:creationId xmlns:a16="http://schemas.microsoft.com/office/drawing/2014/main" id="{93934E34-6CC7-492D-9515-EBEC72EFF4CB}"/>
              </a:ext>
            </a:extLst>
          </p:cNvPr>
          <p:cNvSpPr>
            <a:spLocks noGrp="1"/>
          </p:cNvSpPr>
          <p:nvPr>
            <p:ph idx="17" hasCustomPrompt="1"/>
          </p:nvPr>
        </p:nvSpPr>
        <p:spPr>
          <a:xfrm>
            <a:off x="524454"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29" name="Content Placeholder 2">
            <a:extLst>
              <a:ext uri="{FF2B5EF4-FFF2-40B4-BE49-F238E27FC236}">
                <a16:creationId xmlns:a16="http://schemas.microsoft.com/office/drawing/2014/main" id="{E4E27467-A1AA-4773-AAB5-A96267FBD712}"/>
              </a:ext>
            </a:extLst>
          </p:cNvPr>
          <p:cNvSpPr>
            <a:spLocks noGrp="1"/>
          </p:cNvSpPr>
          <p:nvPr>
            <p:ph idx="18"/>
          </p:nvPr>
        </p:nvSpPr>
        <p:spPr>
          <a:xfrm>
            <a:off x="3377853"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0" name="Content Placeholder 2">
            <a:extLst>
              <a:ext uri="{FF2B5EF4-FFF2-40B4-BE49-F238E27FC236}">
                <a16:creationId xmlns:a16="http://schemas.microsoft.com/office/drawing/2014/main" id="{6CABD5EB-4A8B-448B-8ED1-B8B420815B2D}"/>
              </a:ext>
            </a:extLst>
          </p:cNvPr>
          <p:cNvSpPr>
            <a:spLocks noGrp="1"/>
          </p:cNvSpPr>
          <p:nvPr>
            <p:ph idx="19" hasCustomPrompt="1"/>
          </p:nvPr>
        </p:nvSpPr>
        <p:spPr>
          <a:xfrm>
            <a:off x="3377853"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1" name="Content Placeholder 2">
            <a:extLst>
              <a:ext uri="{FF2B5EF4-FFF2-40B4-BE49-F238E27FC236}">
                <a16:creationId xmlns:a16="http://schemas.microsoft.com/office/drawing/2014/main" id="{0D86883C-E501-47FF-AE1A-E9CE8B71B421}"/>
              </a:ext>
            </a:extLst>
          </p:cNvPr>
          <p:cNvSpPr>
            <a:spLocks noGrp="1"/>
          </p:cNvSpPr>
          <p:nvPr>
            <p:ph idx="20"/>
          </p:nvPr>
        </p:nvSpPr>
        <p:spPr>
          <a:xfrm>
            <a:off x="6216589"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2" name="Content Placeholder 2">
            <a:extLst>
              <a:ext uri="{FF2B5EF4-FFF2-40B4-BE49-F238E27FC236}">
                <a16:creationId xmlns:a16="http://schemas.microsoft.com/office/drawing/2014/main" id="{3683A037-F698-4CC9-904D-F377D71F690F}"/>
              </a:ext>
            </a:extLst>
          </p:cNvPr>
          <p:cNvSpPr>
            <a:spLocks noGrp="1"/>
          </p:cNvSpPr>
          <p:nvPr>
            <p:ph idx="21" hasCustomPrompt="1"/>
          </p:nvPr>
        </p:nvSpPr>
        <p:spPr>
          <a:xfrm>
            <a:off x="6216589"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
        <p:nvSpPr>
          <p:cNvPr id="33" name="Content Placeholder 2">
            <a:extLst>
              <a:ext uri="{FF2B5EF4-FFF2-40B4-BE49-F238E27FC236}">
                <a16:creationId xmlns:a16="http://schemas.microsoft.com/office/drawing/2014/main" id="{0A095594-2B82-44ED-8C9B-DA7C4D3D2872}"/>
              </a:ext>
            </a:extLst>
          </p:cNvPr>
          <p:cNvSpPr>
            <a:spLocks noGrp="1"/>
          </p:cNvSpPr>
          <p:nvPr>
            <p:ph idx="22"/>
          </p:nvPr>
        </p:nvSpPr>
        <p:spPr>
          <a:xfrm>
            <a:off x="9068972" y="4052306"/>
            <a:ext cx="2588705" cy="1749005"/>
          </a:xfrm>
        </p:spPr>
        <p:txBody>
          <a:bodyPr lIns="0" tIns="0" rIns="0" bIns="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a:t>Click to edit Master text styles</a:t>
            </a:r>
          </a:p>
        </p:txBody>
      </p:sp>
      <p:sp>
        <p:nvSpPr>
          <p:cNvPr id="34" name="Content Placeholder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5" cy="495389"/>
          </a:xfrm>
        </p:spPr>
        <p:txBody>
          <a:bodyPr lIns="0" tIns="0" rIns="0" bIns="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a:r>
              <a:rPr lang="en-US" noProof="0" dirty="0"/>
              <a:t>Executive 01</a:t>
            </a:r>
          </a:p>
        </p:txBody>
      </p:sp>
    </p:spTree>
    <p:extLst>
      <p:ext uri="{BB962C8B-B14F-4D97-AF65-F5344CB8AC3E}">
        <p14:creationId xmlns:p14="http://schemas.microsoft.com/office/powerpoint/2010/main" val="387650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01">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844881"/>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lvl1pPr>
          </a:lstStyle>
          <a:p>
            <a:pPr marL="228600" lvl="0" indent="-228600"/>
            <a:r>
              <a:rPr lang="en-US" noProof="0" dirty="0"/>
              <a:t>Website </a:t>
            </a:r>
            <a:r>
              <a:rPr lang="en-US" noProof="0" dirty="0" err="1"/>
              <a:t>url</a:t>
            </a:r>
            <a:r>
              <a:rPr lang="en-US" noProof="0" dirty="0"/>
              <a:t> here</a:t>
            </a:r>
          </a:p>
        </p:txBody>
      </p:sp>
      <p:pic>
        <p:nvPicPr>
          <p:cNvPr id="17" name="Graphic 16" descr="Envelope">
            <a:extLst>
              <a:ext uri="{FF2B5EF4-FFF2-40B4-BE49-F238E27FC236}">
                <a16:creationId xmlns:a16="http://schemas.microsoft.com/office/drawing/2014/main" id="{E5B30B87-6C2E-48F1-9026-E4F6BEA1CFE7}"/>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1475" y="4452337"/>
            <a:ext cx="387795" cy="387795"/>
          </a:xfrm>
          <a:prstGeom prst="rect">
            <a:avLst/>
          </a:prstGeom>
        </p:spPr>
      </p:pic>
      <p:pic>
        <p:nvPicPr>
          <p:cNvPr id="18" name="Graphic 17" descr="Network">
            <a:extLst>
              <a:ext uri="{FF2B5EF4-FFF2-40B4-BE49-F238E27FC236}">
                <a16:creationId xmlns:a16="http://schemas.microsoft.com/office/drawing/2014/main" id="{2DA3CFE0-4ED8-4345-A158-94E70F463E99}"/>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522084" y="4925640"/>
            <a:ext cx="426575" cy="426575"/>
          </a:xfrm>
          <a:prstGeom prst="rect">
            <a:avLst/>
          </a:prstGeom>
        </p:spPr>
      </p:pic>
      <p:sp>
        <p:nvSpPr>
          <p:cNvPr id="2" name="Titl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63713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Picture Placeholder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anchor="ctr"/>
          <a:lstStyle>
            <a:lvl1pPr marL="0" indent="0" algn="ctr">
              <a:buNone/>
              <a:defRPr/>
            </a:lvl1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12" name="Straight Connector 11">
            <a:extLst>
              <a:ext uri="{FF2B5EF4-FFF2-40B4-BE49-F238E27FC236}">
                <a16:creationId xmlns:a16="http://schemas.microsoft.com/office/drawing/2014/main" id="{77C312F4-62C2-4903-8C4B-423A8717E481}"/>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descr="Envelope">
            <a:extLst>
              <a:ext uri="{FF2B5EF4-FFF2-40B4-BE49-F238E27FC236}">
                <a16:creationId xmlns:a16="http://schemas.microsoft.com/office/drawing/2014/main" id="{A686352B-226C-4579-B831-0DC14EC3895E}"/>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41475" y="4452337"/>
            <a:ext cx="387795" cy="387795"/>
          </a:xfrm>
          <a:prstGeom prst="rect">
            <a:avLst/>
          </a:prstGeom>
        </p:spPr>
      </p:pic>
      <p:pic>
        <p:nvPicPr>
          <p:cNvPr id="20" name="Graphic 19" descr="Network">
            <a:extLst>
              <a:ext uri="{FF2B5EF4-FFF2-40B4-BE49-F238E27FC236}">
                <a16:creationId xmlns:a16="http://schemas.microsoft.com/office/drawing/2014/main" id="{460C8169-012B-451A-A6C2-6FEC0DC82AF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522084" y="4925640"/>
            <a:ext cx="426575" cy="426575"/>
          </a:xfrm>
          <a:prstGeom prst="rect">
            <a:avLst/>
          </a:prstGeom>
        </p:spPr>
      </p:pic>
      <p:sp>
        <p:nvSpPr>
          <p:cNvPr id="21" name="Subtitl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0" y="4484691"/>
            <a:ext cx="4540440" cy="503167"/>
          </a:xfrm>
        </p:spPr>
        <p:txBody>
          <a:bodyPr>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email</a:t>
            </a:r>
          </a:p>
        </p:txBody>
      </p:sp>
      <p:sp>
        <p:nvSpPr>
          <p:cNvPr id="22" name="Text Placeholder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a:r>
              <a:rPr lang="en-US" noProof="0" dirty="0"/>
              <a:t>Website </a:t>
            </a:r>
            <a:r>
              <a:rPr lang="en-US" noProof="0" dirty="0" err="1"/>
              <a:t>url</a:t>
            </a:r>
            <a:r>
              <a:rPr lang="en-US" noProof="0" dirty="0"/>
              <a:t> here</a:t>
            </a:r>
          </a:p>
        </p:txBody>
      </p:sp>
      <p:sp>
        <p:nvSpPr>
          <p:cNvPr id="18" name="Titl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a:r>
              <a:rPr lang="en-US" noProof="0"/>
              <a:t>Click to edit Master title style</a:t>
            </a:r>
            <a:endParaRPr lang="en-US" noProof="0" dirty="0"/>
          </a:p>
        </p:txBody>
      </p:sp>
    </p:spTree>
    <p:extLst>
      <p:ext uri="{BB962C8B-B14F-4D97-AF65-F5344CB8AC3E}">
        <p14:creationId xmlns:p14="http://schemas.microsoft.com/office/powerpoint/2010/main" val="81010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Oval 5">
            <a:extLst>
              <a:ext uri="{FF2B5EF4-FFF2-40B4-BE49-F238E27FC236}">
                <a16:creationId xmlns:a16="http://schemas.microsoft.com/office/drawing/2014/main" id="{1F54E98B-AC75-484D-9121-68498EB888AA}"/>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anchor="b">
            <a:noAutofit/>
          </a:bodyPr>
          <a:lstStyle>
            <a:lvl1pPr algn="l">
              <a:defRPr sz="5400" b="1" cap="all" baseline="0">
                <a:solidFill>
                  <a:schemeClr val="bg1"/>
                </a:solidFill>
                <a:latin typeface="+mj-lt"/>
              </a:defRPr>
            </a:lvl1pPr>
          </a:lstStyle>
          <a:p>
            <a:r>
              <a:rPr lang="en-US" noProof="0" dirty="0"/>
              <a:t>Title comes here</a:t>
            </a:r>
          </a:p>
        </p:txBody>
      </p:sp>
      <p:sp>
        <p:nvSpPr>
          <p:cNvPr id="3" name="Subtitl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pic>
        <p:nvPicPr>
          <p:cNvPr id="9" name="Pictur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Straight Connector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057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anchor="b">
            <a:noAutofit/>
          </a:bodyPr>
          <a:lstStyle>
            <a:lvl1pPr algn="ctr">
              <a:defRPr sz="4000" b="1" cap="all" baseline="0">
                <a:solidFill>
                  <a:schemeClr val="bg1"/>
                </a:solidFill>
              </a:defRPr>
            </a:lvl1pPr>
          </a:lstStyle>
          <a:p>
            <a:r>
              <a:rPr lang="en-US" noProof="0"/>
              <a:t>Click to edit Master title style</a:t>
            </a:r>
            <a:endParaRPr lang="en-US" noProof="0" dirty="0"/>
          </a:p>
        </p:txBody>
      </p:sp>
      <p:pic>
        <p:nvPicPr>
          <p:cNvPr id="8" name="Pictur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a:lstStyle>
            <a:lvl1pPr algn="ctr">
              <a:defRPr sz="900">
                <a:solidFill>
                  <a:srgbClr val="2C567A"/>
                </a:solidFill>
                <a:latin typeface="+mn-lt"/>
              </a:defRPr>
            </a:lvl1pPr>
          </a:lstStyle>
          <a:p>
            <a:fld id="{9EC71654-96A5-4280-94F3-931C61A9F92C}" type="slidenum">
              <a:rPr lang="en-US" noProof="0" smtClean="0"/>
              <a:pPr/>
              <a:t>‹#›</a:t>
            </a:fld>
            <a:endParaRPr lang="en-US" noProof="0" dirty="0"/>
          </a:p>
        </p:txBody>
      </p:sp>
      <p:grpSp>
        <p:nvGrpSpPr>
          <p:cNvPr id="4" name="Group 3">
            <a:extLst>
              <a:ext uri="{FF2B5EF4-FFF2-40B4-BE49-F238E27FC236}">
                <a16:creationId xmlns:a16="http://schemas.microsoft.com/office/drawing/2014/main" id="{AD5251EA-F450-4DD1-995B-DC89513424C8}"/>
              </a:ext>
            </a:extLst>
          </p:cNvPr>
          <p:cNvGrpSpPr/>
          <p:nvPr userDrawn="1"/>
        </p:nvGrpSpPr>
        <p:grpSpPr>
          <a:xfrm rot="16200000">
            <a:off x="1637386" y="1473117"/>
            <a:ext cx="8917229" cy="10769768"/>
            <a:chOff x="-1728305" y="-2049517"/>
            <a:chExt cx="8917229" cy="10769768"/>
          </a:xfrm>
        </p:grpSpPr>
        <p:sp>
          <p:nvSpPr>
            <p:cNvPr id="17" name="Oval 16">
              <a:extLst>
                <a:ext uri="{FF2B5EF4-FFF2-40B4-BE49-F238E27FC236}">
                  <a16:creationId xmlns:a16="http://schemas.microsoft.com/office/drawing/2014/main" id="{44882F4E-E8C8-46FE-A9C8-7B79782767F6}"/>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8" name="Group 17">
              <a:extLst>
                <a:ext uri="{FF2B5EF4-FFF2-40B4-BE49-F238E27FC236}">
                  <a16:creationId xmlns:a16="http://schemas.microsoft.com/office/drawing/2014/main" id="{965CD13B-04FB-40D5-AF62-2F43CF49BA9B}"/>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9" name="Freeform 5">
                <a:extLst>
                  <a:ext uri="{FF2B5EF4-FFF2-40B4-BE49-F238E27FC236}">
                    <a16:creationId xmlns:a16="http://schemas.microsoft.com/office/drawing/2014/main" id="{01876F8F-C11E-4FB2-8150-1F0602752F97}"/>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08A1D05F-5F61-4156-8C83-1A002AA1E886}"/>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grpSp>
      <p:sp>
        <p:nvSpPr>
          <p:cNvPr id="21" name="Text Placeholder 2">
            <a:extLst>
              <a:ext uri="{FF2B5EF4-FFF2-40B4-BE49-F238E27FC236}">
                <a16:creationId xmlns:a16="http://schemas.microsoft.com/office/drawing/2014/main" id="{4D77C47B-CC1E-41DA-9146-5DFD63065491}"/>
              </a:ext>
            </a:extLst>
          </p:cNvPr>
          <p:cNvSpPr>
            <a:spLocks noGrp="1"/>
          </p:cNvSpPr>
          <p:nvPr>
            <p:ph type="body" idx="1"/>
          </p:nvPr>
        </p:nvSpPr>
        <p:spPr>
          <a:xfrm>
            <a:off x="831850" y="1153348"/>
            <a:ext cx="10515600" cy="648543"/>
          </a:xfrm>
        </p:spPr>
        <p:txBody>
          <a:bodyPr>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226544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60E0B501-22AA-4685-BE9B-A267F6F675A7}"/>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4" name="Freeform 5">
              <a:extLst>
                <a:ext uri="{FF2B5EF4-FFF2-40B4-BE49-F238E27FC236}">
                  <a16:creationId xmlns:a16="http://schemas.microsoft.com/office/drawing/2014/main" id="{5D0E179E-CA3D-4874-9ACD-F8990F48F4BF}"/>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5" name="Freeform 6">
              <a:extLst>
                <a:ext uri="{FF2B5EF4-FFF2-40B4-BE49-F238E27FC236}">
                  <a16:creationId xmlns:a16="http://schemas.microsoft.com/office/drawing/2014/main" id="{A9C53936-B93A-4CF6-8766-2FA93ACFEBE3}"/>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6" name="Freeform 7">
              <a:extLst>
                <a:ext uri="{FF2B5EF4-FFF2-40B4-BE49-F238E27FC236}">
                  <a16:creationId xmlns:a16="http://schemas.microsoft.com/office/drawing/2014/main" id="{5776DEA2-5422-4F51-B359-652B71274D31}"/>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27" name="Content Placeholder 2">
            <a:extLst>
              <a:ext uri="{FF2B5EF4-FFF2-40B4-BE49-F238E27FC236}">
                <a16:creationId xmlns:a16="http://schemas.microsoft.com/office/drawing/2014/main" id="{1A1F33A2-66F7-4D85-99DD-7B00F265AC6D}"/>
              </a:ext>
            </a:extLst>
          </p:cNvPr>
          <p:cNvSpPr>
            <a:spLocks noGrp="1"/>
          </p:cNvSpPr>
          <p:nvPr>
            <p:ph idx="1"/>
          </p:nvPr>
        </p:nvSpPr>
        <p:spPr>
          <a:xfrm>
            <a:off x="515938" y="1825625"/>
            <a:ext cx="10837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2" name="Picture 11">
            <a:extLst>
              <a:ext uri="{FF2B5EF4-FFF2-40B4-BE49-F238E27FC236}">
                <a16:creationId xmlns:a16="http://schemas.microsoft.com/office/drawing/2014/main" id="{EC2DFD46-BF74-47BA-A496-92ED1979C3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3" name="Title 1">
            <a:extLst>
              <a:ext uri="{FF2B5EF4-FFF2-40B4-BE49-F238E27FC236}">
                <a16:creationId xmlns:a16="http://schemas.microsoft.com/office/drawing/2014/main" id="{EF788279-D710-447A-9E71-4D1344575691}"/>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378975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C2A6B906-ACDA-40FD-8AC8-0B693AB1279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9" name="Freeform 5">
              <a:extLst>
                <a:ext uri="{FF2B5EF4-FFF2-40B4-BE49-F238E27FC236}">
                  <a16:creationId xmlns:a16="http://schemas.microsoft.com/office/drawing/2014/main" id="{717F7366-5A99-4065-90C2-AE7DF5DD0F44}"/>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0" name="Freeform 6">
              <a:extLst>
                <a:ext uri="{FF2B5EF4-FFF2-40B4-BE49-F238E27FC236}">
                  <a16:creationId xmlns:a16="http://schemas.microsoft.com/office/drawing/2014/main" id="{90A089CA-63B9-4456-B0B1-17C75EBFB98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7">
              <a:extLst>
                <a:ext uri="{FF2B5EF4-FFF2-40B4-BE49-F238E27FC236}">
                  <a16:creationId xmlns:a16="http://schemas.microsoft.com/office/drawing/2014/main" id="{8D36B2D1-BCFE-43FC-8743-7B7A30E1AD5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Content Placeholder 2">
            <a:extLst>
              <a:ext uri="{FF2B5EF4-FFF2-40B4-BE49-F238E27FC236}">
                <a16:creationId xmlns:a16="http://schemas.microsoft.com/office/drawing/2014/main" id="{079DA8F4-EDD3-4D62-A90B-8C3C1AFB0083}"/>
              </a:ext>
            </a:extLst>
          </p:cNvPr>
          <p:cNvSpPr>
            <a:spLocks noGrp="1"/>
          </p:cNvSpPr>
          <p:nvPr>
            <p:ph sz="half" idx="1"/>
          </p:nvPr>
        </p:nvSpPr>
        <p:spPr>
          <a:xfrm>
            <a:off x="515938" y="1825625"/>
            <a:ext cx="5503862"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7" name="Content Placeholder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332150F9-14BF-4DCB-884D-49596914C2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1" name="Title 1">
            <a:extLst>
              <a:ext uri="{FF2B5EF4-FFF2-40B4-BE49-F238E27FC236}">
                <a16:creationId xmlns:a16="http://schemas.microsoft.com/office/drawing/2014/main" id="{19DEF115-82C2-4E9D-A22C-8DA561FB37B8}"/>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09293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616F52B4-215E-4237-893C-E22B23804744}"/>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2" name="Freeform 5">
              <a:extLst>
                <a:ext uri="{FF2B5EF4-FFF2-40B4-BE49-F238E27FC236}">
                  <a16:creationId xmlns:a16="http://schemas.microsoft.com/office/drawing/2014/main" id="{B7C40C77-B795-4B07-B92D-2E8A56635773}"/>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6">
              <a:extLst>
                <a:ext uri="{FF2B5EF4-FFF2-40B4-BE49-F238E27FC236}">
                  <a16:creationId xmlns:a16="http://schemas.microsoft.com/office/drawing/2014/main" id="{6E703A1E-5F10-4BB5-9D52-77CB6F5994C0}"/>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4" name="Freeform 7">
              <a:extLst>
                <a:ext uri="{FF2B5EF4-FFF2-40B4-BE49-F238E27FC236}">
                  <a16:creationId xmlns:a16="http://schemas.microsoft.com/office/drawing/2014/main" id="{22CEE04C-09CE-41CF-937D-EC2D3C23ECC6}"/>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ext Placeholder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7" name="Content Placeholder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19" name="Content Placeholder 5">
            <a:extLst>
              <a:ext uri="{FF2B5EF4-FFF2-40B4-BE49-F238E27FC236}">
                <a16:creationId xmlns:a16="http://schemas.microsoft.com/office/drawing/2014/main" id="{8DFD34E8-36CC-4FFE-926B-C170208FEDB8}"/>
              </a:ext>
            </a:extLst>
          </p:cNvPr>
          <p:cNvSpPr>
            <a:spLocks noGrp="1"/>
          </p:cNvSpPr>
          <p:nvPr>
            <p:ph sz="quarter" idx="4"/>
          </p:nvPr>
        </p:nvSpPr>
        <p:spPr>
          <a:xfrm>
            <a:off x="6172200"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21" name="Picture 20">
            <a:extLst>
              <a:ext uri="{FF2B5EF4-FFF2-40B4-BE49-F238E27FC236}">
                <a16:creationId xmlns:a16="http://schemas.microsoft.com/office/drawing/2014/main" id="{03383C6B-3BE4-4380-AF26-1C21492FCE8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5" name="Title 1">
            <a:extLst>
              <a:ext uri="{FF2B5EF4-FFF2-40B4-BE49-F238E27FC236}">
                <a16:creationId xmlns:a16="http://schemas.microsoft.com/office/drawing/2014/main" id="{AE3770E9-CB74-47B0-8229-91F6F756015E}"/>
              </a:ext>
            </a:extLst>
          </p:cNvPr>
          <p:cNvSpPr>
            <a:spLocks noGrp="1"/>
          </p:cNvSpPr>
          <p:nvPr>
            <p:ph type="title"/>
          </p:nvPr>
        </p:nvSpPr>
        <p:spPr>
          <a:xfrm>
            <a:off x="515938" y="246621"/>
            <a:ext cx="11150600" cy="920336"/>
          </a:xfrm>
        </p:spPr>
        <p:txBody>
          <a:bodyPr lIns="0" tIns="0" rIns="0" bIns="0" anchor="b">
            <a:noAutofit/>
          </a:bodyPr>
          <a:lstStyle>
            <a:lvl1pPr>
              <a:defRPr sz="3200" b="1" cap="all" baseline="0"/>
            </a:lvl1pPr>
          </a:lstStyle>
          <a:p>
            <a:r>
              <a:rPr lang="en-US" noProof="0"/>
              <a:t>Click to edit Master title style</a:t>
            </a:r>
            <a:endParaRPr lang="en-US" noProof="0" dirty="0"/>
          </a:p>
        </p:txBody>
      </p:sp>
    </p:spTree>
    <p:extLst>
      <p:ext uri="{BB962C8B-B14F-4D97-AF65-F5344CB8AC3E}">
        <p14:creationId xmlns:p14="http://schemas.microsoft.com/office/powerpoint/2010/main" val="2461794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57825D7-DD33-4B70-BBBE-D46E7A5352EC}"/>
              </a:ext>
            </a:extLst>
          </p:cNvPr>
          <p:cNvSpPr>
            <a:spLocks noGrp="1"/>
          </p:cNvSpPr>
          <p:nvPr>
            <p:ph type="pic" idx="1"/>
          </p:nvPr>
        </p:nvSpPr>
        <p:spPr>
          <a:xfrm>
            <a:off x="6096000" y="768485"/>
            <a:ext cx="5305662"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grpSp>
        <p:nvGrpSpPr>
          <p:cNvPr id="14" name="Group 13">
            <a:extLst>
              <a:ext uri="{FF2B5EF4-FFF2-40B4-BE49-F238E27FC236}">
                <a16:creationId xmlns:a16="http://schemas.microsoft.com/office/drawing/2014/main" id="{0DC2055F-AE3F-46BE-B57E-A0F1A86D1C36}"/>
              </a:ext>
            </a:extLst>
          </p:cNvPr>
          <p:cNvGrpSpPr/>
          <p:nvPr userDrawn="1"/>
        </p:nvGrpSpPr>
        <p:grpSpPr>
          <a:xfrm flipH="1">
            <a:off x="5400786" y="-2003509"/>
            <a:ext cx="8917229" cy="10769768"/>
            <a:chOff x="11114088" y="2241550"/>
            <a:chExt cx="1905000" cy="2354263"/>
          </a:xfrm>
          <a:solidFill>
            <a:schemeClr val="bg2">
              <a:alpha val="91000"/>
            </a:schemeClr>
          </a:solidFill>
        </p:grpSpPr>
        <p:sp>
          <p:nvSpPr>
            <p:cNvPr id="15" name="Freeform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6" name="Freeform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19" name="Title 1">
            <a:extLst>
              <a:ext uri="{FF2B5EF4-FFF2-40B4-BE49-F238E27FC236}">
                <a16:creationId xmlns:a16="http://schemas.microsoft.com/office/drawing/2014/main" id="{19A1397F-1946-4CBE-9EC5-159C3CBC78B6}"/>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20" name="Text Placeholder 3">
            <a:extLst>
              <a:ext uri="{FF2B5EF4-FFF2-40B4-BE49-F238E27FC236}">
                <a16:creationId xmlns:a16="http://schemas.microsoft.com/office/drawing/2014/main" id="{C535F2AB-153E-44A9-97BE-00553BEC1770}"/>
              </a:ext>
            </a:extLst>
          </p:cNvPr>
          <p:cNvSpPr>
            <a:spLocks noGrp="1"/>
          </p:cNvSpPr>
          <p:nvPr>
            <p:ph type="body" sz="half" idx="2"/>
          </p:nvPr>
        </p:nvSpPr>
        <p:spPr>
          <a:xfrm>
            <a:off x="839788" y="2057400"/>
            <a:ext cx="3932237" cy="3811588"/>
          </a:xfrm>
        </p:spPr>
        <p:txBody>
          <a:bodyPr/>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pic>
        <p:nvPicPr>
          <p:cNvPr id="8" name="Picture 7">
            <a:extLst>
              <a:ext uri="{FF2B5EF4-FFF2-40B4-BE49-F238E27FC236}">
                <a16:creationId xmlns:a16="http://schemas.microsoft.com/office/drawing/2014/main" id="{06298D65-1027-4897-A948-DCEEF8FC3D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2107185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9F866E5C-B8AA-4805-B232-831BA01AAF1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0" name="Freeform 5">
              <a:extLst>
                <a:ext uri="{FF2B5EF4-FFF2-40B4-BE49-F238E27FC236}">
                  <a16:creationId xmlns:a16="http://schemas.microsoft.com/office/drawing/2014/main" id="{F98614F0-2DA3-4F29-8CB3-D61424AC8506}"/>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2" name="Freeform 6">
              <a:extLst>
                <a:ext uri="{FF2B5EF4-FFF2-40B4-BE49-F238E27FC236}">
                  <a16:creationId xmlns:a16="http://schemas.microsoft.com/office/drawing/2014/main" id="{66D52F08-13EC-4AB4-BB79-89A5395A03B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23" name="Freeform 7">
              <a:extLst>
                <a:ext uri="{FF2B5EF4-FFF2-40B4-BE49-F238E27FC236}">
                  <a16:creationId xmlns:a16="http://schemas.microsoft.com/office/drawing/2014/main" id="{2544236D-8C3A-41EF-9A68-C84A8A7D0F5A}"/>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bg1"/>
              </a:solidFill>
            </a:endParaRPr>
          </a:p>
        </p:txBody>
      </p:sp>
      <p:sp>
        <p:nvSpPr>
          <p:cNvPr id="15" name="Oval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Slide Number Placeholder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a:lstStyle>
            <a:lvl1pPr algn="ctr">
              <a:defRPr sz="900">
                <a:solidFill>
                  <a:schemeClr val="bg1"/>
                </a:solidFill>
                <a:latin typeface="+mn-lt"/>
              </a:defRPr>
            </a:lvl1pPr>
          </a:lstStyle>
          <a:p>
            <a:fld id="{9EC71654-96A5-4280-94F3-931C61A9F92C}" type="slidenum">
              <a:rPr lang="en-US" noProof="0" smtClean="0"/>
              <a:pPr/>
              <a:t>‹#›</a:t>
            </a:fld>
            <a:endParaRPr lang="en-US" noProof="0" dirty="0"/>
          </a:p>
        </p:txBody>
      </p:sp>
      <p:sp>
        <p:nvSpPr>
          <p:cNvPr id="14" name="Title 1">
            <a:extLst>
              <a:ext uri="{FF2B5EF4-FFF2-40B4-BE49-F238E27FC236}">
                <a16:creationId xmlns:a16="http://schemas.microsoft.com/office/drawing/2014/main" id="{9009D5C6-6206-4291-8037-67DC025F0B4C}"/>
              </a:ext>
            </a:extLst>
          </p:cNvPr>
          <p:cNvSpPr>
            <a:spLocks noGrp="1"/>
          </p:cNvSpPr>
          <p:nvPr>
            <p:ph type="title"/>
          </p:nvPr>
        </p:nvSpPr>
        <p:spPr>
          <a:xfrm>
            <a:off x="839788" y="457200"/>
            <a:ext cx="3932237" cy="1600200"/>
          </a:xfrm>
        </p:spPr>
        <p:txBody>
          <a:bodyPr anchor="b"/>
          <a:lstStyle>
            <a:lvl1pPr>
              <a:defRPr sz="3200"/>
            </a:lvl1pPr>
          </a:lstStyle>
          <a:p>
            <a:r>
              <a:rPr lang="en-US" noProof="0"/>
              <a:t>Click to edit Master title style</a:t>
            </a:r>
            <a:endParaRPr lang="en-US" noProof="0" dirty="0"/>
          </a:p>
        </p:txBody>
      </p:sp>
      <p:sp>
        <p:nvSpPr>
          <p:cNvPr id="17" name="Text Placeholder 3">
            <a:extLst>
              <a:ext uri="{FF2B5EF4-FFF2-40B4-BE49-F238E27FC236}">
                <a16:creationId xmlns:a16="http://schemas.microsoft.com/office/drawing/2014/main" id="{BEB643FD-AA85-4A43-8EBD-AFD10DD987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18" name="Content Placeholder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13" name="Picture 12">
            <a:extLst>
              <a:ext uri="{FF2B5EF4-FFF2-40B4-BE49-F238E27FC236}">
                <a16:creationId xmlns:a16="http://schemas.microsoft.com/office/drawing/2014/main" id="{91881DEA-0ECB-4310-ADF5-4337ACB4338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302531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51F27F-98F9-A147-8986-34441C7B752D}" type="datetime1">
              <a:rPr lang="en-US" noProof="0" smtClean="0"/>
              <a:t>9/8/2023</a:t>
            </a:fld>
            <a:endParaRPr lang="en-US" noProof="0" dirty="0"/>
          </a:p>
        </p:txBody>
      </p:sp>
      <p:sp>
        <p:nvSpPr>
          <p:cNvPr id="5" name="Footer Placeholder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C71654-96A5-4280-94F3-931C61A9F92C}" type="slidenum">
              <a:rPr lang="en-US" noProof="0" smtClean="0"/>
              <a:t>‹#›</a:t>
            </a:fld>
            <a:endParaRPr lang="en-US"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61" r:id="rId5"/>
    <p:sldLayoutId id="2147483662" r:id="rId6"/>
    <p:sldLayoutId id="2147483663" r:id="rId7"/>
    <p:sldLayoutId id="2147483654"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08B8-3DB3-4637-AE23-B8DB96D9FCEC}"/>
              </a:ext>
            </a:extLst>
          </p:cNvPr>
          <p:cNvSpPr>
            <a:spLocks noGrp="1"/>
          </p:cNvSpPr>
          <p:nvPr>
            <p:ph type="ctrTitle"/>
          </p:nvPr>
        </p:nvSpPr>
        <p:spPr/>
        <p:txBody>
          <a:bodyPr/>
          <a:lstStyle/>
          <a:p>
            <a:r>
              <a:rPr lang="en-US" dirty="0"/>
              <a:t>Linear regression analysis</a:t>
            </a:r>
          </a:p>
        </p:txBody>
      </p:sp>
      <p:sp>
        <p:nvSpPr>
          <p:cNvPr id="3" name="Subtitle 2">
            <a:extLst>
              <a:ext uri="{FF2B5EF4-FFF2-40B4-BE49-F238E27FC236}">
                <a16:creationId xmlns:a16="http://schemas.microsoft.com/office/drawing/2014/main" id="{2198AA37-E298-4CD8-9F0F-2123ACFD9653}"/>
              </a:ext>
            </a:extLst>
          </p:cNvPr>
          <p:cNvSpPr>
            <a:spLocks noGrp="1"/>
          </p:cNvSpPr>
          <p:nvPr>
            <p:ph type="subTitle" idx="1"/>
          </p:nvPr>
        </p:nvSpPr>
        <p:spPr>
          <a:xfrm>
            <a:off x="6343650" y="4264096"/>
            <a:ext cx="5143500" cy="827857"/>
          </a:xfrm>
        </p:spPr>
        <p:txBody>
          <a:bodyPr/>
          <a:lstStyle/>
          <a:p>
            <a:r>
              <a:rPr lang="en-US" dirty="0"/>
              <a:t>Kaveri Karri</a:t>
            </a:r>
          </a:p>
        </p:txBody>
      </p:sp>
      <p:pic>
        <p:nvPicPr>
          <p:cNvPr id="10" name="Picture Placeholder 9" descr="city scape">
            <a:extLst>
              <a:ext uri="{FF2B5EF4-FFF2-40B4-BE49-F238E27FC236}">
                <a16:creationId xmlns:a16="http://schemas.microsoft.com/office/drawing/2014/main" id="{ABD7F97D-15E8-4032-B615-0562046B7542}"/>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4" name="Rectangle 3">
            <a:extLst>
              <a:ext uri="{FF2B5EF4-FFF2-40B4-BE49-F238E27FC236}">
                <a16:creationId xmlns:a16="http://schemas.microsoft.com/office/drawing/2014/main" id="{AAA6A416-1F68-5051-B5FC-C01864629D28}"/>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6717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dirty="0"/>
              <a:t>ABSTRACTION</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357624"/>
          </a:xfrm>
        </p:spPr>
        <p:txBody>
          <a:bodyPr/>
          <a:lstStyle/>
          <a:p>
            <a:pPr algn="l"/>
            <a:r>
              <a:rPr lang="en-US" dirty="0"/>
              <a:t>The World Happiness Report 2015 dataset contains data on the happiness levels of people in 159 countries around the world. It includes information on a variety of factors that are thought to contribute to happiness, such as economic factors (GDP per capita), social factors (family, health, and freedom), and trust in government. The data also includes a happiness score and a happiness rank for each country. The happiness score and happiness rank are based on a poll in which people were asked to rate their overall happiness on a scale of 0 to 10. The economy, family, health, freedom, trust, and generosity columns contain various measures of those factors. Overall, the World Happiness Report 2015 dataset provides valuable insights into the factors that contribute to happiness and well-being at the national level, and can be used by researchers, policymakers, and others to better understand and promote happiness around the world.</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270375"/>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2</a:t>
            </a:fld>
            <a:endParaRPr lang="en-US" dirty="0"/>
          </a:p>
        </p:txBody>
      </p:sp>
    </p:spTree>
    <p:extLst>
      <p:ext uri="{BB962C8B-B14F-4D97-AF65-F5344CB8AC3E}">
        <p14:creationId xmlns:p14="http://schemas.microsoft.com/office/powerpoint/2010/main" val="3187533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8568391" y="0"/>
            <a:ext cx="3623609" cy="940181"/>
          </a:xfrm>
        </p:spPr>
        <p:txBody>
          <a:bodyPr/>
          <a:lstStyle/>
          <a:p>
            <a:r>
              <a:rPr lang="en-US" dirty="0"/>
              <a:t>DATA</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468989" y="914400"/>
            <a:ext cx="5985600" cy="357624"/>
          </a:xfrm>
        </p:spPr>
        <p:txBody>
          <a:bodyPr/>
          <a:lstStyle/>
          <a:p>
            <a:pPr algn="l"/>
            <a:r>
              <a:rPr lang="en-US" dirty="0"/>
              <a:t>.</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3</a:t>
            </a:fld>
            <a:endParaRPr lang="en-US" dirty="0"/>
          </a:p>
        </p:txBody>
      </p:sp>
      <p:graphicFrame>
        <p:nvGraphicFramePr>
          <p:cNvPr id="5" name="Table 4">
            <a:extLst>
              <a:ext uri="{FF2B5EF4-FFF2-40B4-BE49-F238E27FC236}">
                <a16:creationId xmlns:a16="http://schemas.microsoft.com/office/drawing/2014/main" id="{82A58976-55FE-ED18-1EA8-585C423BA4E3}"/>
              </a:ext>
            </a:extLst>
          </p:cNvPr>
          <p:cNvGraphicFramePr>
            <a:graphicFrameLocks noGrp="1"/>
          </p:cNvGraphicFramePr>
          <p:nvPr>
            <p:extLst>
              <p:ext uri="{D42A27DB-BD31-4B8C-83A1-F6EECF244321}">
                <p14:modId xmlns:p14="http://schemas.microsoft.com/office/powerpoint/2010/main" val="2753412449"/>
              </p:ext>
            </p:extLst>
          </p:nvPr>
        </p:nvGraphicFramePr>
        <p:xfrm>
          <a:off x="6454589" y="2702840"/>
          <a:ext cx="5305426" cy="3357567"/>
        </p:xfrm>
        <a:graphic>
          <a:graphicData uri="http://schemas.openxmlformats.org/drawingml/2006/table">
            <a:tbl>
              <a:tblPr firstRow="1" firstCol="1" bandRow="1">
                <a:tableStyleId>{5C22544A-7EE6-4342-B048-85BDC9FD1C3A}</a:tableStyleId>
              </a:tblPr>
              <a:tblGrid>
                <a:gridCol w="2652713">
                  <a:extLst>
                    <a:ext uri="{9D8B030D-6E8A-4147-A177-3AD203B41FA5}">
                      <a16:colId xmlns:a16="http://schemas.microsoft.com/office/drawing/2014/main" val="2174664622"/>
                    </a:ext>
                  </a:extLst>
                </a:gridCol>
                <a:gridCol w="2652713">
                  <a:extLst>
                    <a:ext uri="{9D8B030D-6E8A-4147-A177-3AD203B41FA5}">
                      <a16:colId xmlns:a16="http://schemas.microsoft.com/office/drawing/2014/main" val="3846750761"/>
                    </a:ext>
                  </a:extLst>
                </a:gridCol>
              </a:tblGrid>
              <a:tr h="0">
                <a:tc>
                  <a:txBody>
                    <a:bodyPr/>
                    <a:lstStyle/>
                    <a:p>
                      <a:pPr algn="ctr">
                        <a:lnSpc>
                          <a:spcPct val="200000"/>
                        </a:lnSpc>
                      </a:pPr>
                      <a:r>
                        <a:rPr lang="en-IN" sz="1200" dirty="0">
                          <a:effectLst/>
                        </a:rPr>
                        <a:t>Column Name</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gn="ctr">
                        <a:lnSpc>
                          <a:spcPct val="200000"/>
                        </a:lnSpc>
                      </a:pPr>
                      <a:r>
                        <a:rPr lang="en-IN" sz="1200">
                          <a:effectLst/>
                        </a:rPr>
                        <a:t>Description</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316655253"/>
                  </a:ext>
                </a:extLst>
              </a:tr>
              <a:tr h="0">
                <a:tc>
                  <a:txBody>
                    <a:bodyPr/>
                    <a:lstStyle/>
                    <a:p>
                      <a:pPr>
                        <a:lnSpc>
                          <a:spcPct val="200000"/>
                        </a:lnSpc>
                      </a:pPr>
                      <a:r>
                        <a:rPr lang="en-IN" sz="1200" b="0" dirty="0">
                          <a:solidFill>
                            <a:schemeClr val="tx1"/>
                          </a:solidFill>
                          <a:effectLst/>
                        </a:rPr>
                        <a:t>Country or Region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Name of the country</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885466595"/>
                  </a:ext>
                </a:extLst>
              </a:tr>
              <a:tr h="0">
                <a:tc>
                  <a:txBody>
                    <a:bodyPr/>
                    <a:lstStyle/>
                    <a:p>
                      <a:pPr>
                        <a:lnSpc>
                          <a:spcPct val="200000"/>
                        </a:lnSpc>
                      </a:pPr>
                      <a:r>
                        <a:rPr lang="en-IN" sz="1200" b="0" dirty="0">
                          <a:solidFill>
                            <a:schemeClr val="tx1"/>
                          </a:solidFill>
                          <a:effectLst/>
                        </a:rPr>
                        <a:t>Happiness Score</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a:effectLst/>
                        </a:rPr>
                        <a:t>A composite score of overall well-being</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734506599"/>
                  </a:ext>
                </a:extLst>
              </a:tr>
              <a:tr h="0">
                <a:tc>
                  <a:txBody>
                    <a:bodyPr/>
                    <a:lstStyle/>
                    <a:p>
                      <a:pPr>
                        <a:lnSpc>
                          <a:spcPct val="200000"/>
                        </a:lnSpc>
                      </a:pPr>
                      <a:r>
                        <a:rPr lang="en-IN" sz="1200" b="0" dirty="0">
                          <a:solidFill>
                            <a:schemeClr val="tx1"/>
                          </a:solidFill>
                          <a:effectLst/>
                        </a:rPr>
                        <a:t>Economy (GDP per Capita)</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a:effectLst/>
                        </a:rPr>
                        <a:t>Measure of the economic production of a country</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893818679"/>
                  </a:ext>
                </a:extLst>
              </a:tr>
              <a:tr h="0">
                <a:tc>
                  <a:txBody>
                    <a:bodyPr/>
                    <a:lstStyle/>
                    <a:p>
                      <a:pPr>
                        <a:lnSpc>
                          <a:spcPct val="200000"/>
                        </a:lnSpc>
                      </a:pPr>
                      <a:r>
                        <a:rPr lang="en-IN" sz="1200" b="0">
                          <a:solidFill>
                            <a:schemeClr val="tx1"/>
                          </a:solidFill>
                          <a:effectLst/>
                        </a:rPr>
                        <a:t>Family</a:t>
                      </a:r>
                      <a:endParaRPr lang="en-IN" sz="1100" b="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social support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421576538"/>
                  </a:ext>
                </a:extLst>
              </a:tr>
              <a:tr h="0">
                <a:tc>
                  <a:txBody>
                    <a:bodyPr/>
                    <a:lstStyle/>
                    <a:p>
                      <a:pPr>
                        <a:lnSpc>
                          <a:spcPct val="200000"/>
                        </a:lnSpc>
                      </a:pPr>
                      <a:r>
                        <a:rPr lang="en-IN" sz="1200" b="0" dirty="0">
                          <a:solidFill>
                            <a:schemeClr val="tx1"/>
                          </a:solidFill>
                          <a:effectLst/>
                        </a:rPr>
                        <a:t>Health (Life Expectancy)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a:effectLst/>
                        </a:rPr>
                        <a:t>Measure of the health of citizens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2556884904"/>
                  </a:ext>
                </a:extLst>
              </a:tr>
              <a:tr h="0">
                <a:tc>
                  <a:txBody>
                    <a:bodyPr/>
                    <a:lstStyle/>
                    <a:p>
                      <a:pPr>
                        <a:lnSpc>
                          <a:spcPct val="200000"/>
                        </a:lnSpc>
                      </a:pPr>
                      <a:r>
                        <a:rPr lang="en-IN" sz="1200" b="0" dirty="0">
                          <a:solidFill>
                            <a:schemeClr val="tx1"/>
                          </a:solidFill>
                          <a:effectLst/>
                        </a:rPr>
                        <a:t>Freedom</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a:effectLst/>
                        </a:rPr>
                        <a:t>Measure of freedom to make life choices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1272355943"/>
                  </a:ext>
                </a:extLst>
              </a:tr>
              <a:tr h="0">
                <a:tc>
                  <a:txBody>
                    <a:bodyPr/>
                    <a:lstStyle/>
                    <a:p>
                      <a:pPr>
                        <a:lnSpc>
                          <a:spcPct val="200000"/>
                        </a:lnSpc>
                      </a:pPr>
                      <a:r>
                        <a:rPr lang="en-IN" sz="1200" b="0" dirty="0">
                          <a:solidFill>
                            <a:schemeClr val="tx1"/>
                          </a:solidFill>
                          <a:effectLst/>
                        </a:rPr>
                        <a:t>Generosity</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a:effectLst/>
                        </a:rPr>
                        <a:t>Measure of generosity of citizens</a:t>
                      </a:r>
                      <a:endParaRPr lang="en-IN" sz="110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3582673103"/>
                  </a:ext>
                </a:extLst>
              </a:tr>
              <a:tr h="0">
                <a:tc>
                  <a:txBody>
                    <a:bodyPr/>
                    <a:lstStyle/>
                    <a:p>
                      <a:pPr>
                        <a:lnSpc>
                          <a:spcPct val="200000"/>
                        </a:lnSpc>
                      </a:pPr>
                      <a:r>
                        <a:rPr lang="en-IN" sz="1200" b="0" dirty="0">
                          <a:solidFill>
                            <a:schemeClr val="tx1"/>
                          </a:solidFill>
                          <a:effectLst/>
                        </a:rPr>
                        <a:t>Trust (Government Corruption)</a:t>
                      </a:r>
                      <a:endParaRPr lang="en-IN" sz="1100" b="0" dirty="0">
                        <a:solidFill>
                          <a:schemeClr val="tx1"/>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tc>
                  <a:txBody>
                    <a:bodyPr/>
                    <a:lstStyle/>
                    <a:p>
                      <a:pPr>
                        <a:lnSpc>
                          <a:spcPct val="200000"/>
                        </a:lnSpc>
                      </a:pPr>
                      <a:r>
                        <a:rPr lang="en-IN" sz="1200" dirty="0">
                          <a:effectLst/>
                        </a:rPr>
                        <a:t>Measure of trust in government</a:t>
                      </a:r>
                      <a:endParaRPr lang="en-IN" sz="1100" dirty="0">
                        <a:solidFill>
                          <a:srgbClr val="000000"/>
                        </a:solidFill>
                        <a:effectLst/>
                        <a:latin typeface="Arial" panose="020B0604020202020204" pitchFamily="34" charset="0"/>
                        <a:ea typeface="Arial" panose="020B0604020202020204" pitchFamily="34" charset="0"/>
                      </a:endParaRPr>
                    </a:p>
                  </a:txBody>
                  <a:tcPr marL="9525" marR="9525" marT="9525" marB="9525" anchor="b">
                    <a:solidFill>
                      <a:srgbClr val="FF0000"/>
                    </a:solidFill>
                  </a:tcPr>
                </a:tc>
                <a:extLst>
                  <a:ext uri="{0D108BD9-81ED-4DB2-BD59-A6C34878D82A}">
                    <a16:rowId xmlns:a16="http://schemas.microsoft.com/office/drawing/2014/main" val="2579271703"/>
                  </a:ext>
                </a:extLst>
              </a:tr>
            </a:tbl>
          </a:graphicData>
        </a:graphic>
      </p:graphicFrame>
      <p:sp>
        <p:nvSpPr>
          <p:cNvPr id="6" name="TextBox 5">
            <a:extLst>
              <a:ext uri="{FF2B5EF4-FFF2-40B4-BE49-F238E27FC236}">
                <a16:creationId xmlns:a16="http://schemas.microsoft.com/office/drawing/2014/main" id="{B1620563-412A-FA04-8C1C-57D0DD0E8BA8}"/>
              </a:ext>
            </a:extLst>
          </p:cNvPr>
          <p:cNvSpPr txBox="1"/>
          <p:nvPr/>
        </p:nvSpPr>
        <p:spPr>
          <a:xfrm>
            <a:off x="6096000" y="1093212"/>
            <a:ext cx="5432612" cy="1477328"/>
          </a:xfrm>
          <a:prstGeom prst="rect">
            <a:avLst/>
          </a:prstGeom>
          <a:noFill/>
        </p:spPr>
        <p:txBody>
          <a:bodyPr wrap="square" rtlCol="0">
            <a:spAutoFit/>
          </a:bodyPr>
          <a:lstStyle/>
          <a:p>
            <a:r>
              <a:rPr lang="en-US" dirty="0">
                <a:solidFill>
                  <a:schemeClr val="bg1"/>
                </a:solidFill>
              </a:rPr>
              <a:t>The dataset can be found on Kaggle and it contains data on happiness levels of people in 159 countries around the world. The data is collected in the year 2015 and it includes information on a variety of factors that are thought to contribute to happiness, such as:</a:t>
            </a:r>
            <a:endParaRPr lang="en-IN" dirty="0">
              <a:solidFill>
                <a:schemeClr val="bg1"/>
              </a:solidFill>
            </a:endParaRPr>
          </a:p>
        </p:txBody>
      </p:sp>
    </p:spTree>
    <p:extLst>
      <p:ext uri="{BB962C8B-B14F-4D97-AF65-F5344CB8AC3E}">
        <p14:creationId xmlns:p14="http://schemas.microsoft.com/office/powerpoint/2010/main" val="2943046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46418"/>
            <a:ext cx="9906000" cy="659362"/>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96966" y="1384466"/>
            <a:ext cx="11061189" cy="659362"/>
          </a:xfrm>
        </p:spPr>
        <p:txBody>
          <a:bodyPr/>
          <a:lstStyle/>
          <a:p>
            <a:pPr algn="l"/>
            <a:r>
              <a:rPr lang="en-US" dirty="0"/>
              <a:t>The World Happiness Report 2015 dataset was divided into 60% training and 40% validation. The first set, the training set, would be used to fit the linear regression model and would contain 60% of the total data. The second set, the validation set, would be used to evaluate the performance of the model and would contain 40% of the total data.</a:t>
            </a:r>
          </a:p>
          <a:p>
            <a:pPr algn="l"/>
            <a:r>
              <a:rPr lang="en-US" dirty="0"/>
              <a:t>A full Regression model is fitted by using all predictors. The coefficients of the full model are given in the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4</a:t>
            </a:fld>
            <a:endParaRPr lang="en-US" dirty="0"/>
          </a:p>
        </p:txBody>
      </p:sp>
      <p:graphicFrame>
        <p:nvGraphicFramePr>
          <p:cNvPr id="6" name="Table 5">
            <a:extLst>
              <a:ext uri="{FF2B5EF4-FFF2-40B4-BE49-F238E27FC236}">
                <a16:creationId xmlns:a16="http://schemas.microsoft.com/office/drawing/2014/main" id="{8076B40C-15A0-E17B-2327-24BDF66BC1D5}"/>
              </a:ext>
            </a:extLst>
          </p:cNvPr>
          <p:cNvGraphicFramePr>
            <a:graphicFrameLocks noGrp="1"/>
          </p:cNvGraphicFramePr>
          <p:nvPr>
            <p:extLst>
              <p:ext uri="{D42A27DB-BD31-4B8C-83A1-F6EECF244321}">
                <p14:modId xmlns:p14="http://schemas.microsoft.com/office/powerpoint/2010/main" val="996825242"/>
              </p:ext>
            </p:extLst>
          </p:nvPr>
        </p:nvGraphicFramePr>
        <p:xfrm>
          <a:off x="596966" y="2936428"/>
          <a:ext cx="7646276" cy="3082702"/>
        </p:xfrm>
        <a:graphic>
          <a:graphicData uri="http://schemas.openxmlformats.org/drawingml/2006/table">
            <a:tbl>
              <a:tblPr firstRow="1" firstCol="1" bandRow="1">
                <a:tableStyleId>{5C22544A-7EE6-4342-B048-85BDC9FD1C3A}</a:tableStyleId>
              </a:tblPr>
              <a:tblGrid>
                <a:gridCol w="2632324">
                  <a:extLst>
                    <a:ext uri="{9D8B030D-6E8A-4147-A177-3AD203B41FA5}">
                      <a16:colId xmlns:a16="http://schemas.microsoft.com/office/drawing/2014/main" val="3810606050"/>
                    </a:ext>
                  </a:extLst>
                </a:gridCol>
                <a:gridCol w="2043357">
                  <a:extLst>
                    <a:ext uri="{9D8B030D-6E8A-4147-A177-3AD203B41FA5}">
                      <a16:colId xmlns:a16="http://schemas.microsoft.com/office/drawing/2014/main" val="1584295618"/>
                    </a:ext>
                  </a:extLst>
                </a:gridCol>
                <a:gridCol w="2970595">
                  <a:extLst>
                    <a:ext uri="{9D8B030D-6E8A-4147-A177-3AD203B41FA5}">
                      <a16:colId xmlns:a16="http://schemas.microsoft.com/office/drawing/2014/main" val="2787186920"/>
                    </a:ext>
                  </a:extLst>
                </a:gridCol>
              </a:tblGrid>
              <a:tr h="360131">
                <a:tc>
                  <a:txBody>
                    <a:bodyPr/>
                    <a:lstStyle/>
                    <a:p>
                      <a:pPr marL="0" marR="0" algn="ctr">
                        <a:lnSpc>
                          <a:spcPct val="115000"/>
                        </a:lnSpc>
                        <a:spcBef>
                          <a:spcPts val="0"/>
                        </a:spcBef>
                        <a:spcAft>
                          <a:spcPts val="0"/>
                        </a:spcAft>
                      </a:pPr>
                      <a:r>
                        <a:rPr lang="en-IN" sz="1600">
                          <a:effectLst/>
                        </a:rPr>
                        <a:t>Variable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dirty="0">
                          <a:effectLst/>
                        </a:rPr>
                        <a:t>Estimate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P-value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531438710"/>
                  </a:ext>
                </a:extLst>
              </a:tr>
              <a:tr h="360131">
                <a:tc>
                  <a:txBody>
                    <a:bodyPr/>
                    <a:lstStyle/>
                    <a:p>
                      <a:pPr marL="0" marR="0">
                        <a:lnSpc>
                          <a:spcPct val="115000"/>
                        </a:lnSpc>
                        <a:spcBef>
                          <a:spcPts val="0"/>
                        </a:spcBef>
                        <a:spcAft>
                          <a:spcPts val="0"/>
                        </a:spcAft>
                      </a:pPr>
                      <a:r>
                        <a:rPr lang="en-IN" sz="1600">
                          <a:effectLst/>
                        </a:rPr>
                        <a:t>(Intercept)</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2.0815762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dirty="0">
                          <a:effectLst/>
                        </a:rPr>
                        <a:t>1.766181e-14</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730421371"/>
                  </a:ext>
                </a:extLst>
              </a:tr>
              <a:tr h="360131">
                <a:tc>
                  <a:txBody>
                    <a:bodyPr/>
                    <a:lstStyle/>
                    <a:p>
                      <a:pPr marL="0" marR="0">
                        <a:lnSpc>
                          <a:spcPct val="115000"/>
                        </a:lnSpc>
                        <a:spcBef>
                          <a:spcPts val="0"/>
                        </a:spcBef>
                        <a:spcAft>
                          <a:spcPts val="0"/>
                        </a:spcAft>
                      </a:pPr>
                      <a:r>
                        <a:rPr lang="en-IN" sz="1600" dirty="0">
                          <a:effectLst/>
                        </a:rPr>
                        <a:t>Economy (GDP per Capita)</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0.8906999</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2.440296e-03</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68403553"/>
                  </a:ext>
                </a:extLst>
              </a:tr>
              <a:tr h="360131">
                <a:tc>
                  <a:txBody>
                    <a:bodyPr/>
                    <a:lstStyle/>
                    <a:p>
                      <a:pPr marL="0" marR="0">
                        <a:lnSpc>
                          <a:spcPct val="115000"/>
                        </a:lnSpc>
                        <a:spcBef>
                          <a:spcPts val="0"/>
                        </a:spcBef>
                        <a:spcAft>
                          <a:spcPts val="0"/>
                        </a:spcAft>
                      </a:pPr>
                      <a:r>
                        <a:rPr lang="en-IN" sz="1600">
                          <a:effectLst/>
                        </a:rPr>
                        <a:t>Family</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1.2251126</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1.988229e-05</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3284478533"/>
                  </a:ext>
                </a:extLst>
              </a:tr>
              <a:tr h="360131">
                <a:tc>
                  <a:txBody>
                    <a:bodyPr/>
                    <a:lstStyle/>
                    <a:p>
                      <a:pPr marL="0" marR="0">
                        <a:lnSpc>
                          <a:spcPct val="115000"/>
                        </a:lnSpc>
                        <a:spcBef>
                          <a:spcPts val="0"/>
                        </a:spcBef>
                        <a:spcAft>
                          <a:spcPts val="0"/>
                        </a:spcAft>
                      </a:pPr>
                      <a:r>
                        <a:rPr lang="en-IN" sz="1600">
                          <a:effectLst/>
                        </a:rPr>
                        <a:t>Health (Life Expectancy)</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0.9827672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1.862623e-02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216383246"/>
                  </a:ext>
                </a:extLst>
              </a:tr>
              <a:tr h="360131">
                <a:tc>
                  <a:txBody>
                    <a:bodyPr/>
                    <a:lstStyle/>
                    <a:p>
                      <a:pPr marL="0" marR="0">
                        <a:lnSpc>
                          <a:spcPct val="115000"/>
                        </a:lnSpc>
                        <a:spcBef>
                          <a:spcPts val="0"/>
                        </a:spcBef>
                        <a:spcAft>
                          <a:spcPts val="0"/>
                        </a:spcAft>
                      </a:pPr>
                      <a:r>
                        <a:rPr lang="en-IN" sz="1600">
                          <a:effectLst/>
                        </a:rPr>
                        <a:t>Freedom</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1.2324408</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1.168447e-02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3812363218"/>
                  </a:ext>
                </a:extLst>
              </a:tr>
              <a:tr h="360131">
                <a:tc>
                  <a:txBody>
                    <a:bodyPr/>
                    <a:lstStyle/>
                    <a:p>
                      <a:pPr marL="0" marR="0">
                        <a:lnSpc>
                          <a:spcPct val="115000"/>
                        </a:lnSpc>
                        <a:spcBef>
                          <a:spcPts val="0"/>
                        </a:spcBef>
                        <a:spcAft>
                          <a:spcPts val="0"/>
                        </a:spcAft>
                      </a:pPr>
                      <a:r>
                        <a:rPr lang="en-IN" sz="1600">
                          <a:effectLst/>
                        </a:rPr>
                        <a:t>Trust (Government Corruption)</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0.8940511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1.232240e-01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468253059"/>
                  </a:ext>
                </a:extLst>
              </a:tr>
              <a:tr h="360131">
                <a:tc>
                  <a:txBody>
                    <a:bodyPr/>
                    <a:lstStyle/>
                    <a:p>
                      <a:pPr marL="0" marR="0">
                        <a:lnSpc>
                          <a:spcPct val="115000"/>
                        </a:lnSpc>
                        <a:spcBef>
                          <a:spcPts val="0"/>
                        </a:spcBef>
                        <a:spcAft>
                          <a:spcPts val="0"/>
                        </a:spcAft>
                      </a:pPr>
                      <a:r>
                        <a:rPr lang="en-IN" sz="1600">
                          <a:effectLst/>
                        </a:rPr>
                        <a:t>Generosity</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0.3319540</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dirty="0">
                          <a:effectLst/>
                        </a:rPr>
                        <a:t>5.094965e-01</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3966493511"/>
                  </a:ext>
                </a:extLst>
              </a:tr>
            </a:tbl>
          </a:graphicData>
        </a:graphic>
      </p:graphicFrame>
      <p:sp>
        <p:nvSpPr>
          <p:cNvPr id="10" name="TextBox 9">
            <a:extLst>
              <a:ext uri="{FF2B5EF4-FFF2-40B4-BE49-F238E27FC236}">
                <a16:creationId xmlns:a16="http://schemas.microsoft.com/office/drawing/2014/main" id="{C985AF34-6EF6-6D79-6DB1-38677ABDB84A}"/>
              </a:ext>
            </a:extLst>
          </p:cNvPr>
          <p:cNvSpPr txBox="1"/>
          <p:nvPr/>
        </p:nvSpPr>
        <p:spPr>
          <a:xfrm>
            <a:off x="8544911" y="3877614"/>
            <a:ext cx="3322582" cy="1200329"/>
          </a:xfrm>
          <a:prstGeom prst="rect">
            <a:avLst/>
          </a:prstGeom>
          <a:noFill/>
        </p:spPr>
        <p:txBody>
          <a:bodyPr wrap="square">
            <a:spAutoFit/>
          </a:bodyPr>
          <a:lstStyle/>
          <a:p>
            <a:r>
              <a:rPr lang="en-US" dirty="0">
                <a:solidFill>
                  <a:schemeClr val="bg1"/>
                </a:solidFill>
              </a:rPr>
              <a:t>From the table the Economy, Family, Health and Freedom are statically significant because the p-value is less than 0.05.</a:t>
            </a:r>
            <a:endParaRPr lang="en-IN" dirty="0">
              <a:solidFill>
                <a:schemeClr val="bg1"/>
              </a:solidFill>
            </a:endParaRPr>
          </a:p>
        </p:txBody>
      </p:sp>
    </p:spTree>
    <p:extLst>
      <p:ext uri="{BB962C8B-B14F-4D97-AF65-F5344CB8AC3E}">
        <p14:creationId xmlns:p14="http://schemas.microsoft.com/office/powerpoint/2010/main" val="3240073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44388" y="411604"/>
            <a:ext cx="10103224" cy="706658"/>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863750" y="1491542"/>
            <a:ext cx="4543822" cy="573741"/>
          </a:xfrm>
        </p:spPr>
        <p:txBody>
          <a:bodyPr/>
          <a:lstStyle/>
          <a:p>
            <a:pPr algn="l"/>
            <a:r>
              <a:rPr lang="en-US" dirty="0"/>
              <a:t>The Accuracy metrics of full model training data are given in the below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5</a:t>
            </a:fld>
            <a:endParaRPr lang="en-US" dirty="0"/>
          </a:p>
        </p:txBody>
      </p:sp>
      <p:graphicFrame>
        <p:nvGraphicFramePr>
          <p:cNvPr id="5" name="Table 4">
            <a:extLst>
              <a:ext uri="{FF2B5EF4-FFF2-40B4-BE49-F238E27FC236}">
                <a16:creationId xmlns:a16="http://schemas.microsoft.com/office/drawing/2014/main" id="{2BF502C1-E773-5A7E-3563-7ED1CB44EE2B}"/>
              </a:ext>
            </a:extLst>
          </p:cNvPr>
          <p:cNvGraphicFramePr>
            <a:graphicFrameLocks noGrp="1"/>
          </p:cNvGraphicFramePr>
          <p:nvPr>
            <p:extLst>
              <p:ext uri="{D42A27DB-BD31-4B8C-83A1-F6EECF244321}">
                <p14:modId xmlns:p14="http://schemas.microsoft.com/office/powerpoint/2010/main" val="3850447405"/>
              </p:ext>
            </p:extLst>
          </p:nvPr>
        </p:nvGraphicFramePr>
        <p:xfrm>
          <a:off x="863750" y="2587789"/>
          <a:ext cx="4543822" cy="1885188"/>
        </p:xfrm>
        <a:graphic>
          <a:graphicData uri="http://schemas.openxmlformats.org/drawingml/2006/table">
            <a:tbl>
              <a:tblPr firstRow="1" firstCol="1" bandRow="1">
                <a:tableStyleId>{5C22544A-7EE6-4342-B048-85BDC9FD1C3A}</a:tableStyleId>
              </a:tblPr>
              <a:tblGrid>
                <a:gridCol w="2271911">
                  <a:extLst>
                    <a:ext uri="{9D8B030D-6E8A-4147-A177-3AD203B41FA5}">
                      <a16:colId xmlns:a16="http://schemas.microsoft.com/office/drawing/2014/main" val="218428976"/>
                    </a:ext>
                  </a:extLst>
                </a:gridCol>
                <a:gridCol w="2271911">
                  <a:extLst>
                    <a:ext uri="{9D8B030D-6E8A-4147-A177-3AD203B41FA5}">
                      <a16:colId xmlns:a16="http://schemas.microsoft.com/office/drawing/2014/main" val="3230872181"/>
                    </a:ext>
                  </a:extLst>
                </a:gridCol>
              </a:tblGrid>
              <a:tr h="177800">
                <a:tc>
                  <a:txBody>
                    <a:bodyPr/>
                    <a:lstStyle/>
                    <a:p>
                      <a:pPr marL="0" marR="0" algn="ctr">
                        <a:lnSpc>
                          <a:spcPct val="115000"/>
                        </a:lnSpc>
                        <a:spcBef>
                          <a:spcPts val="0"/>
                        </a:spcBef>
                        <a:spcAft>
                          <a:spcPts val="0"/>
                        </a:spcAft>
                      </a:pPr>
                      <a:r>
                        <a:rPr lang="en-IN" sz="1800" dirty="0">
                          <a:effectLst/>
                        </a:rPr>
                        <a:t>Metric</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Value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816306741"/>
                  </a:ext>
                </a:extLst>
              </a:tr>
              <a:tr h="177800">
                <a:tc>
                  <a:txBody>
                    <a:bodyPr/>
                    <a:lstStyle/>
                    <a:p>
                      <a:pPr marL="0" marR="0">
                        <a:lnSpc>
                          <a:spcPct val="115000"/>
                        </a:lnSpc>
                        <a:spcBef>
                          <a:spcPts val="0"/>
                        </a:spcBef>
                        <a:spcAft>
                          <a:spcPts val="0"/>
                        </a:spcAft>
                      </a:pPr>
                      <a:r>
                        <a:rPr lang="en-IN" sz="1800">
                          <a:effectLst/>
                        </a:rPr>
                        <a:t>ME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1.31e-15</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797093578"/>
                  </a:ext>
                </a:extLst>
              </a:tr>
              <a:tr h="177800">
                <a:tc>
                  <a:txBody>
                    <a:bodyPr/>
                    <a:lstStyle/>
                    <a:p>
                      <a:pPr marL="0" marR="0">
                        <a:lnSpc>
                          <a:spcPct val="115000"/>
                        </a:lnSpc>
                        <a:spcBef>
                          <a:spcPts val="0"/>
                        </a:spcBef>
                        <a:spcAft>
                          <a:spcPts val="0"/>
                        </a:spcAft>
                      </a:pPr>
                      <a:r>
                        <a:rPr lang="en-IN" sz="1800" dirty="0">
                          <a:effectLst/>
                        </a:rPr>
                        <a:t>RMSE</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0.505</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965489663"/>
                  </a:ext>
                </a:extLst>
              </a:tr>
              <a:tr h="177800">
                <a:tc>
                  <a:txBody>
                    <a:bodyPr/>
                    <a:lstStyle/>
                    <a:p>
                      <a:pPr marL="0" marR="0">
                        <a:lnSpc>
                          <a:spcPct val="115000"/>
                        </a:lnSpc>
                        <a:spcBef>
                          <a:spcPts val="0"/>
                        </a:spcBef>
                        <a:spcAft>
                          <a:spcPts val="0"/>
                        </a:spcAft>
                      </a:pPr>
                      <a:r>
                        <a:rPr lang="en-IN" sz="1800">
                          <a:effectLst/>
                        </a:rPr>
                        <a:t>MAE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0.390</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699667159"/>
                  </a:ext>
                </a:extLst>
              </a:tr>
              <a:tr h="177800">
                <a:tc>
                  <a:txBody>
                    <a:bodyPr/>
                    <a:lstStyle/>
                    <a:p>
                      <a:pPr marL="0" marR="0">
                        <a:lnSpc>
                          <a:spcPct val="115000"/>
                        </a:lnSpc>
                        <a:spcBef>
                          <a:spcPts val="0"/>
                        </a:spcBef>
                        <a:spcAft>
                          <a:spcPts val="0"/>
                        </a:spcAft>
                      </a:pPr>
                      <a:r>
                        <a:rPr lang="en-IN" sz="1800">
                          <a:effectLst/>
                        </a:rPr>
                        <a:t>MPE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dirty="0">
                          <a:effectLst/>
                        </a:rPr>
                        <a:t>-0.992</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464917015"/>
                  </a:ext>
                </a:extLst>
              </a:tr>
              <a:tr h="185420">
                <a:tc>
                  <a:txBody>
                    <a:bodyPr/>
                    <a:lstStyle/>
                    <a:p>
                      <a:pPr marL="0" marR="0">
                        <a:lnSpc>
                          <a:spcPct val="115000"/>
                        </a:lnSpc>
                        <a:spcBef>
                          <a:spcPts val="0"/>
                        </a:spcBef>
                        <a:spcAft>
                          <a:spcPts val="0"/>
                        </a:spcAft>
                      </a:pPr>
                      <a:r>
                        <a:rPr lang="en-IN" sz="1800">
                          <a:effectLst/>
                        </a:rPr>
                        <a:t>MAPE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dirty="0">
                          <a:effectLst/>
                        </a:rPr>
                        <a:t>7.89</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439354738"/>
                  </a:ext>
                </a:extLst>
              </a:tr>
            </a:tbl>
          </a:graphicData>
        </a:graphic>
      </p:graphicFrame>
      <p:sp>
        <p:nvSpPr>
          <p:cNvPr id="10" name="TextBox 9">
            <a:extLst>
              <a:ext uri="{FF2B5EF4-FFF2-40B4-BE49-F238E27FC236}">
                <a16:creationId xmlns:a16="http://schemas.microsoft.com/office/drawing/2014/main" id="{0BE11043-1A8D-669B-1F16-E9E535D02058}"/>
              </a:ext>
            </a:extLst>
          </p:cNvPr>
          <p:cNvSpPr txBox="1"/>
          <p:nvPr/>
        </p:nvSpPr>
        <p:spPr>
          <a:xfrm>
            <a:off x="6579477" y="1412770"/>
            <a:ext cx="5078679" cy="646331"/>
          </a:xfrm>
          <a:prstGeom prst="rect">
            <a:avLst/>
          </a:prstGeom>
          <a:noFill/>
        </p:spPr>
        <p:txBody>
          <a:bodyPr wrap="square">
            <a:spAutoFit/>
          </a:bodyPr>
          <a:lstStyle/>
          <a:p>
            <a:r>
              <a:rPr lang="en-US" dirty="0">
                <a:solidFill>
                  <a:schemeClr val="bg1"/>
                </a:solidFill>
              </a:rPr>
              <a:t>The Accuracy metric of full model validation data are given in the below table.</a:t>
            </a:r>
            <a:endParaRPr lang="en-IN" dirty="0">
              <a:solidFill>
                <a:schemeClr val="bg1"/>
              </a:solidFill>
            </a:endParaRPr>
          </a:p>
        </p:txBody>
      </p:sp>
      <p:graphicFrame>
        <p:nvGraphicFramePr>
          <p:cNvPr id="11" name="Table 10">
            <a:extLst>
              <a:ext uri="{FF2B5EF4-FFF2-40B4-BE49-F238E27FC236}">
                <a16:creationId xmlns:a16="http://schemas.microsoft.com/office/drawing/2014/main" id="{1E03E2FD-482C-47BA-39EB-B129D91E9794}"/>
              </a:ext>
            </a:extLst>
          </p:cNvPr>
          <p:cNvGraphicFramePr>
            <a:graphicFrameLocks noGrp="1"/>
          </p:cNvGraphicFramePr>
          <p:nvPr>
            <p:extLst>
              <p:ext uri="{D42A27DB-BD31-4B8C-83A1-F6EECF244321}">
                <p14:modId xmlns:p14="http://schemas.microsoft.com/office/powerpoint/2010/main" val="1651089256"/>
              </p:ext>
            </p:extLst>
          </p:nvPr>
        </p:nvGraphicFramePr>
        <p:xfrm>
          <a:off x="6784428" y="2587789"/>
          <a:ext cx="4543822" cy="1885188"/>
        </p:xfrm>
        <a:graphic>
          <a:graphicData uri="http://schemas.openxmlformats.org/drawingml/2006/table">
            <a:tbl>
              <a:tblPr firstRow="1" firstCol="1" bandRow="1">
                <a:tableStyleId>{5C22544A-7EE6-4342-B048-85BDC9FD1C3A}</a:tableStyleId>
              </a:tblPr>
              <a:tblGrid>
                <a:gridCol w="2040317">
                  <a:extLst>
                    <a:ext uri="{9D8B030D-6E8A-4147-A177-3AD203B41FA5}">
                      <a16:colId xmlns:a16="http://schemas.microsoft.com/office/drawing/2014/main" val="560463561"/>
                    </a:ext>
                  </a:extLst>
                </a:gridCol>
                <a:gridCol w="2503505">
                  <a:extLst>
                    <a:ext uri="{9D8B030D-6E8A-4147-A177-3AD203B41FA5}">
                      <a16:colId xmlns:a16="http://schemas.microsoft.com/office/drawing/2014/main" val="3518142536"/>
                    </a:ext>
                  </a:extLst>
                </a:gridCol>
              </a:tblGrid>
              <a:tr h="314198">
                <a:tc>
                  <a:txBody>
                    <a:bodyPr/>
                    <a:lstStyle/>
                    <a:p>
                      <a:pPr marL="0" marR="0" algn="ctr">
                        <a:lnSpc>
                          <a:spcPct val="115000"/>
                        </a:lnSpc>
                        <a:spcBef>
                          <a:spcPts val="0"/>
                        </a:spcBef>
                        <a:spcAft>
                          <a:spcPts val="0"/>
                        </a:spcAft>
                      </a:pPr>
                      <a:r>
                        <a:rPr lang="en-IN" sz="1800" dirty="0">
                          <a:effectLst/>
                        </a:rPr>
                        <a:t>Metric</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Value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736032429"/>
                  </a:ext>
                </a:extLst>
              </a:tr>
              <a:tr h="314198">
                <a:tc>
                  <a:txBody>
                    <a:bodyPr/>
                    <a:lstStyle/>
                    <a:p>
                      <a:pPr marL="0" marR="0">
                        <a:lnSpc>
                          <a:spcPct val="115000"/>
                        </a:lnSpc>
                        <a:spcBef>
                          <a:spcPts val="0"/>
                        </a:spcBef>
                        <a:spcAft>
                          <a:spcPts val="0"/>
                        </a:spcAft>
                      </a:pPr>
                      <a:r>
                        <a:rPr lang="en-IN" sz="1800">
                          <a:effectLst/>
                        </a:rPr>
                        <a:t>ME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-0.06981036</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415507249"/>
                  </a:ext>
                </a:extLst>
              </a:tr>
              <a:tr h="314198">
                <a:tc>
                  <a:txBody>
                    <a:bodyPr/>
                    <a:lstStyle/>
                    <a:p>
                      <a:pPr marL="0" marR="0">
                        <a:lnSpc>
                          <a:spcPct val="115000"/>
                        </a:lnSpc>
                        <a:spcBef>
                          <a:spcPts val="0"/>
                        </a:spcBef>
                        <a:spcAft>
                          <a:spcPts val="0"/>
                        </a:spcAft>
                      </a:pPr>
                      <a:r>
                        <a:rPr lang="en-IN" sz="1800">
                          <a:effectLst/>
                        </a:rPr>
                        <a:t>RMSE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0.59110420</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152249879"/>
                  </a:ext>
                </a:extLst>
              </a:tr>
              <a:tr h="314198">
                <a:tc>
                  <a:txBody>
                    <a:bodyPr/>
                    <a:lstStyle/>
                    <a:p>
                      <a:pPr marL="0" marR="0">
                        <a:lnSpc>
                          <a:spcPct val="115000"/>
                        </a:lnSpc>
                        <a:spcBef>
                          <a:spcPts val="0"/>
                        </a:spcBef>
                        <a:spcAft>
                          <a:spcPts val="0"/>
                        </a:spcAft>
                      </a:pPr>
                      <a:r>
                        <a:rPr lang="en-IN" sz="1800">
                          <a:effectLst/>
                        </a:rPr>
                        <a:t>MAE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0.47085473</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56168138"/>
                  </a:ext>
                </a:extLst>
              </a:tr>
              <a:tr h="314198">
                <a:tc>
                  <a:txBody>
                    <a:bodyPr/>
                    <a:lstStyle/>
                    <a:p>
                      <a:pPr marL="0" marR="0">
                        <a:lnSpc>
                          <a:spcPct val="115000"/>
                        </a:lnSpc>
                        <a:spcBef>
                          <a:spcPts val="0"/>
                        </a:spcBef>
                        <a:spcAft>
                          <a:spcPts val="0"/>
                        </a:spcAft>
                      </a:pPr>
                      <a:r>
                        <a:rPr lang="en-IN" sz="1800" dirty="0">
                          <a:effectLst/>
                        </a:rPr>
                        <a:t>MPE</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-2.96841858</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4079175162"/>
                  </a:ext>
                </a:extLst>
              </a:tr>
              <a:tr h="314198">
                <a:tc>
                  <a:txBody>
                    <a:bodyPr/>
                    <a:lstStyle/>
                    <a:p>
                      <a:pPr marL="0" marR="0">
                        <a:lnSpc>
                          <a:spcPct val="115000"/>
                        </a:lnSpc>
                        <a:spcBef>
                          <a:spcPts val="0"/>
                        </a:spcBef>
                        <a:spcAft>
                          <a:spcPts val="0"/>
                        </a:spcAft>
                      </a:pPr>
                      <a:r>
                        <a:rPr lang="en-IN" sz="1800">
                          <a:effectLst/>
                        </a:rPr>
                        <a:t>MAPE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dirty="0">
                          <a:effectLst/>
                        </a:rPr>
                        <a:t>9.40502939</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235596150"/>
                  </a:ext>
                </a:extLst>
              </a:tr>
            </a:tbl>
          </a:graphicData>
        </a:graphic>
      </p:graphicFrame>
      <p:sp>
        <p:nvSpPr>
          <p:cNvPr id="17" name="TextBox 16">
            <a:extLst>
              <a:ext uri="{FF2B5EF4-FFF2-40B4-BE49-F238E27FC236}">
                <a16:creationId xmlns:a16="http://schemas.microsoft.com/office/drawing/2014/main" id="{D394DEE7-47BB-1328-F761-C2CFB3C04F1E}"/>
              </a:ext>
            </a:extLst>
          </p:cNvPr>
          <p:cNvSpPr txBox="1"/>
          <p:nvPr/>
        </p:nvSpPr>
        <p:spPr>
          <a:xfrm>
            <a:off x="1650124" y="4904793"/>
            <a:ext cx="8891751" cy="923330"/>
          </a:xfrm>
          <a:prstGeom prst="rect">
            <a:avLst/>
          </a:prstGeom>
          <a:noFill/>
        </p:spPr>
        <p:txBody>
          <a:bodyPr wrap="square">
            <a:spAutoFit/>
          </a:bodyPr>
          <a:lstStyle/>
          <a:p>
            <a:r>
              <a:rPr lang="en-US" dirty="0">
                <a:solidFill>
                  <a:schemeClr val="bg1"/>
                </a:solidFill>
              </a:rPr>
              <a:t>There are different variable selection procedures that can be used in linear regression analysis, such as exhaustive search (best subset), forward selection, and backward elimination.</a:t>
            </a:r>
            <a:endParaRPr lang="en-IN" dirty="0">
              <a:solidFill>
                <a:schemeClr val="bg1"/>
              </a:solidFill>
            </a:endParaRPr>
          </a:p>
        </p:txBody>
      </p:sp>
    </p:spTree>
    <p:extLst>
      <p:ext uri="{BB962C8B-B14F-4D97-AF65-F5344CB8AC3E}">
        <p14:creationId xmlns:p14="http://schemas.microsoft.com/office/powerpoint/2010/main" val="3257732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057835" y="434270"/>
            <a:ext cx="10076330" cy="641836"/>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757344" y="1379482"/>
            <a:ext cx="10076329" cy="985345"/>
          </a:xfrm>
        </p:spPr>
        <p:txBody>
          <a:bodyPr/>
          <a:lstStyle/>
          <a:p>
            <a:pPr algn="l"/>
            <a:r>
              <a:rPr lang="en-US" b="1" dirty="0"/>
              <a:t>Exhaustive Search (Best Subset): </a:t>
            </a:r>
            <a:r>
              <a:rPr lang="en-US" dirty="0"/>
              <a:t>This method involves fitting all possible models with a different combination of variables and selecting the best one based on a certain criterion, such as the lowest AIC or BIC value. Using this method, one can identify the best subset of variables that yield the highest prediction accuracy. The best model chosen in this method would be the one with the lowest AIC/BIC value. </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6</a:t>
            </a:fld>
            <a:endParaRPr lang="en-US" dirty="0"/>
          </a:p>
        </p:txBody>
      </p:sp>
      <p:sp>
        <p:nvSpPr>
          <p:cNvPr id="9" name="TextBox 8">
            <a:extLst>
              <a:ext uri="{FF2B5EF4-FFF2-40B4-BE49-F238E27FC236}">
                <a16:creationId xmlns:a16="http://schemas.microsoft.com/office/drawing/2014/main" id="{496F5DD6-2659-06E6-252C-0D47F5E0850C}"/>
              </a:ext>
            </a:extLst>
          </p:cNvPr>
          <p:cNvSpPr txBox="1"/>
          <p:nvPr/>
        </p:nvSpPr>
        <p:spPr>
          <a:xfrm>
            <a:off x="757343" y="2644254"/>
            <a:ext cx="10076329" cy="1200329"/>
          </a:xfrm>
          <a:prstGeom prst="rect">
            <a:avLst/>
          </a:prstGeom>
          <a:noFill/>
        </p:spPr>
        <p:txBody>
          <a:bodyPr wrap="square">
            <a:spAutoFit/>
          </a:bodyPr>
          <a:lstStyle/>
          <a:p>
            <a:r>
              <a:rPr lang="en-US" b="1" dirty="0">
                <a:solidFill>
                  <a:schemeClr val="bg1"/>
                </a:solidFill>
              </a:rPr>
              <a:t>Forward Selection: </a:t>
            </a:r>
            <a:r>
              <a:rPr lang="en-US" dirty="0">
                <a:solidFill>
                  <a:schemeClr val="bg1"/>
                </a:solidFill>
              </a:rPr>
              <a:t>This method starts with an empty model and iteratively adds one variable at a time, based on a certain criterion, such as the highest p-value. Using this method, one can identify the minimal set of variables that are needed to explain </a:t>
            </a:r>
          </a:p>
          <a:p>
            <a:r>
              <a:rPr lang="en-US" dirty="0">
                <a:solidFill>
                  <a:schemeClr val="bg1"/>
                </a:solidFill>
              </a:rPr>
              <a:t>the response variable. </a:t>
            </a:r>
          </a:p>
        </p:txBody>
      </p:sp>
      <p:sp>
        <p:nvSpPr>
          <p:cNvPr id="13" name="TextBox 12">
            <a:extLst>
              <a:ext uri="{FF2B5EF4-FFF2-40B4-BE49-F238E27FC236}">
                <a16:creationId xmlns:a16="http://schemas.microsoft.com/office/drawing/2014/main" id="{92948548-C2EF-401A-54BE-F47EECAE4B58}"/>
              </a:ext>
            </a:extLst>
          </p:cNvPr>
          <p:cNvSpPr txBox="1"/>
          <p:nvPr/>
        </p:nvSpPr>
        <p:spPr>
          <a:xfrm>
            <a:off x="757342" y="4108244"/>
            <a:ext cx="10076329" cy="1477328"/>
          </a:xfrm>
          <a:prstGeom prst="rect">
            <a:avLst/>
          </a:prstGeom>
          <a:noFill/>
        </p:spPr>
        <p:txBody>
          <a:bodyPr wrap="square">
            <a:spAutoFit/>
          </a:bodyPr>
          <a:lstStyle/>
          <a:p>
            <a:r>
              <a:rPr lang="en-US" b="1" dirty="0">
                <a:solidFill>
                  <a:schemeClr val="bg1"/>
                </a:solidFill>
              </a:rPr>
              <a:t>Backward Elimination: </a:t>
            </a:r>
            <a:r>
              <a:rPr lang="en-US" dirty="0">
                <a:solidFill>
                  <a:schemeClr val="bg1"/>
                </a:solidFill>
              </a:rPr>
              <a:t>This method starts with a full model that includes all variables and iteratively removes one variable at a time, based on a certain criterion, such as the lowest p-value. Using this method, one can identify the minimal set of variables that are needed to explain the response variable. The best model chosen in this method would be the one that maximizes the p-value of the removed variable.	</a:t>
            </a:r>
            <a:endParaRPr lang="en-IN" dirty="0">
              <a:solidFill>
                <a:schemeClr val="bg1"/>
              </a:solidFill>
            </a:endParaRPr>
          </a:p>
        </p:txBody>
      </p:sp>
    </p:spTree>
    <p:extLst>
      <p:ext uri="{BB962C8B-B14F-4D97-AF65-F5344CB8AC3E}">
        <p14:creationId xmlns:p14="http://schemas.microsoft.com/office/powerpoint/2010/main" val="3083582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59683"/>
            <a:ext cx="9906000" cy="680672"/>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1143000" y="1352935"/>
            <a:ext cx="5537364" cy="357624"/>
          </a:xfrm>
        </p:spPr>
        <p:txBody>
          <a:bodyPr/>
          <a:lstStyle/>
          <a:p>
            <a:pPr algn="l"/>
            <a:r>
              <a:rPr lang="en-US" sz="2400" b="1" dirty="0">
                <a:solidFill>
                  <a:schemeClr val="bg1">
                    <a:lumMod val="95000"/>
                  </a:schemeClr>
                </a:solidFill>
              </a:rPr>
              <a:t>Model Building</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7</a:t>
            </a:fld>
            <a:endParaRPr lang="en-US" dirty="0"/>
          </a:p>
        </p:txBody>
      </p:sp>
      <p:sp>
        <p:nvSpPr>
          <p:cNvPr id="9" name="TextBox 8">
            <a:extLst>
              <a:ext uri="{FF2B5EF4-FFF2-40B4-BE49-F238E27FC236}">
                <a16:creationId xmlns:a16="http://schemas.microsoft.com/office/drawing/2014/main" id="{7429257D-DC5F-AC68-69B7-62B47B40592A}"/>
              </a:ext>
            </a:extLst>
          </p:cNvPr>
          <p:cNvSpPr txBox="1"/>
          <p:nvPr/>
        </p:nvSpPr>
        <p:spPr>
          <a:xfrm>
            <a:off x="1192130" y="1923139"/>
            <a:ext cx="6093372" cy="1200329"/>
          </a:xfrm>
          <a:prstGeom prst="rect">
            <a:avLst/>
          </a:prstGeom>
          <a:noFill/>
        </p:spPr>
        <p:txBody>
          <a:bodyPr wrap="square">
            <a:spAutoFit/>
          </a:bodyPr>
          <a:lstStyle/>
          <a:p>
            <a:r>
              <a:rPr lang="en-US" dirty="0">
                <a:solidFill>
                  <a:schemeClr val="bg1">
                    <a:lumMod val="95000"/>
                  </a:schemeClr>
                </a:solidFill>
              </a:rPr>
              <a:t>Model-1 is from Forward Selection and Backward Elimination. A linear regression model is fitted by using Economy, Family, Health, Freedom and Trust (Government Corruption). The coefficients of the model-1 are given in the table.</a:t>
            </a:r>
            <a:endParaRPr lang="en-IN" dirty="0">
              <a:solidFill>
                <a:schemeClr val="bg1">
                  <a:lumMod val="95000"/>
                </a:schemeClr>
              </a:solidFill>
            </a:endParaRPr>
          </a:p>
        </p:txBody>
      </p:sp>
      <p:graphicFrame>
        <p:nvGraphicFramePr>
          <p:cNvPr id="10" name="Table 9">
            <a:extLst>
              <a:ext uri="{FF2B5EF4-FFF2-40B4-BE49-F238E27FC236}">
                <a16:creationId xmlns:a16="http://schemas.microsoft.com/office/drawing/2014/main" id="{40442154-AFB4-1E65-FA61-5390EBB2325F}"/>
              </a:ext>
            </a:extLst>
          </p:cNvPr>
          <p:cNvGraphicFramePr>
            <a:graphicFrameLocks noGrp="1"/>
          </p:cNvGraphicFramePr>
          <p:nvPr>
            <p:extLst>
              <p:ext uri="{D42A27DB-BD31-4B8C-83A1-F6EECF244321}">
                <p14:modId xmlns:p14="http://schemas.microsoft.com/office/powerpoint/2010/main" val="105588180"/>
              </p:ext>
            </p:extLst>
          </p:nvPr>
        </p:nvGraphicFramePr>
        <p:xfrm>
          <a:off x="1192130" y="3499945"/>
          <a:ext cx="5488234" cy="2230949"/>
        </p:xfrm>
        <a:graphic>
          <a:graphicData uri="http://schemas.openxmlformats.org/drawingml/2006/table">
            <a:tbl>
              <a:tblPr firstRow="1" firstCol="1" bandRow="1">
                <a:tableStyleId>{5C22544A-7EE6-4342-B048-85BDC9FD1C3A}</a:tableStyleId>
              </a:tblPr>
              <a:tblGrid>
                <a:gridCol w="1889393">
                  <a:extLst>
                    <a:ext uri="{9D8B030D-6E8A-4147-A177-3AD203B41FA5}">
                      <a16:colId xmlns:a16="http://schemas.microsoft.com/office/drawing/2014/main" val="2198210426"/>
                    </a:ext>
                  </a:extLst>
                </a:gridCol>
                <a:gridCol w="1466651">
                  <a:extLst>
                    <a:ext uri="{9D8B030D-6E8A-4147-A177-3AD203B41FA5}">
                      <a16:colId xmlns:a16="http://schemas.microsoft.com/office/drawing/2014/main" val="1689137445"/>
                    </a:ext>
                  </a:extLst>
                </a:gridCol>
                <a:gridCol w="2132190">
                  <a:extLst>
                    <a:ext uri="{9D8B030D-6E8A-4147-A177-3AD203B41FA5}">
                      <a16:colId xmlns:a16="http://schemas.microsoft.com/office/drawing/2014/main" val="831470365"/>
                    </a:ext>
                  </a:extLst>
                </a:gridCol>
              </a:tblGrid>
              <a:tr h="178435">
                <a:tc>
                  <a:txBody>
                    <a:bodyPr/>
                    <a:lstStyle/>
                    <a:p>
                      <a:pPr marL="0" marR="0" algn="ctr">
                        <a:lnSpc>
                          <a:spcPct val="115000"/>
                        </a:lnSpc>
                        <a:spcBef>
                          <a:spcPts val="0"/>
                        </a:spcBef>
                        <a:spcAft>
                          <a:spcPts val="0"/>
                        </a:spcAft>
                      </a:pPr>
                      <a:r>
                        <a:rPr lang="en-IN" sz="1400">
                          <a:effectLst/>
                        </a:rPr>
                        <a:t>Variable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Estimate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P-value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3346697547"/>
                  </a:ext>
                </a:extLst>
              </a:tr>
              <a:tr h="178435">
                <a:tc>
                  <a:txBody>
                    <a:bodyPr/>
                    <a:lstStyle/>
                    <a:p>
                      <a:pPr marL="0" marR="0">
                        <a:lnSpc>
                          <a:spcPct val="115000"/>
                        </a:lnSpc>
                        <a:spcBef>
                          <a:spcPts val="0"/>
                        </a:spcBef>
                        <a:spcAft>
                          <a:spcPts val="0"/>
                        </a:spcAft>
                      </a:pPr>
                      <a:r>
                        <a:rPr lang="en-IN" sz="1400">
                          <a:effectLst/>
                        </a:rPr>
                        <a:t>(Intercept)</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2.1208099</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a:effectLst/>
                        </a:rPr>
                        <a:t>1.224656e-15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145996039"/>
                  </a:ext>
                </a:extLst>
              </a:tr>
              <a:tr h="178435">
                <a:tc>
                  <a:txBody>
                    <a:bodyPr/>
                    <a:lstStyle/>
                    <a:p>
                      <a:pPr marL="0" marR="0">
                        <a:lnSpc>
                          <a:spcPct val="115000"/>
                        </a:lnSpc>
                        <a:spcBef>
                          <a:spcPts val="0"/>
                        </a:spcBef>
                        <a:spcAft>
                          <a:spcPts val="0"/>
                        </a:spcAft>
                      </a:pPr>
                      <a:r>
                        <a:rPr lang="en-IN" sz="1400">
                          <a:effectLst/>
                        </a:rPr>
                        <a:t>Economy (GDP per Capita)</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0.8428350</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a:effectLst/>
                        </a:rPr>
                        <a:t>2.904128e-03</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544053433"/>
                  </a:ext>
                </a:extLst>
              </a:tr>
              <a:tr h="178435">
                <a:tc>
                  <a:txBody>
                    <a:bodyPr/>
                    <a:lstStyle/>
                    <a:p>
                      <a:pPr marL="0" marR="0">
                        <a:lnSpc>
                          <a:spcPct val="115000"/>
                        </a:lnSpc>
                        <a:spcBef>
                          <a:spcPts val="0"/>
                        </a:spcBef>
                        <a:spcAft>
                          <a:spcPts val="0"/>
                        </a:spcAft>
                      </a:pPr>
                      <a:r>
                        <a:rPr lang="en-IN" sz="1400" dirty="0">
                          <a:effectLst/>
                        </a:rPr>
                        <a:t>Family</a:t>
                      </a:r>
                      <a:endParaRPr lang="en-IN" sz="16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1.2273615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a:effectLst/>
                        </a:rPr>
                        <a:t>1.799142e-05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094218624"/>
                  </a:ext>
                </a:extLst>
              </a:tr>
              <a:tr h="178435">
                <a:tc>
                  <a:txBody>
                    <a:bodyPr/>
                    <a:lstStyle/>
                    <a:p>
                      <a:pPr marL="0" marR="0">
                        <a:lnSpc>
                          <a:spcPct val="115000"/>
                        </a:lnSpc>
                        <a:spcBef>
                          <a:spcPts val="0"/>
                        </a:spcBef>
                        <a:spcAft>
                          <a:spcPts val="0"/>
                        </a:spcAft>
                      </a:pPr>
                      <a:r>
                        <a:rPr lang="en-IN" sz="1400">
                          <a:effectLst/>
                        </a:rPr>
                        <a:t>Health (Life Expectancy)</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1.0460853</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a:effectLst/>
                        </a:rPr>
                        <a:t>9.989778e-03</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2830628996"/>
                  </a:ext>
                </a:extLst>
              </a:tr>
              <a:tr h="178435">
                <a:tc>
                  <a:txBody>
                    <a:bodyPr/>
                    <a:lstStyle/>
                    <a:p>
                      <a:pPr marL="0" marR="0">
                        <a:lnSpc>
                          <a:spcPct val="115000"/>
                        </a:lnSpc>
                        <a:spcBef>
                          <a:spcPts val="0"/>
                        </a:spcBef>
                        <a:spcAft>
                          <a:spcPts val="0"/>
                        </a:spcAft>
                      </a:pPr>
                      <a:r>
                        <a:rPr lang="en-IN" sz="1400">
                          <a:effectLst/>
                        </a:rPr>
                        <a:t>Freedom</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1.3117535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a:effectLst/>
                        </a:rPr>
                        <a:t>5.588636e-03</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72044452"/>
                  </a:ext>
                </a:extLst>
              </a:tr>
              <a:tr h="178435">
                <a:tc>
                  <a:txBody>
                    <a:bodyPr/>
                    <a:lstStyle/>
                    <a:p>
                      <a:pPr marL="0" marR="0">
                        <a:lnSpc>
                          <a:spcPct val="115000"/>
                        </a:lnSpc>
                        <a:spcBef>
                          <a:spcPts val="0"/>
                        </a:spcBef>
                        <a:spcAft>
                          <a:spcPts val="0"/>
                        </a:spcAft>
                      </a:pPr>
                      <a:r>
                        <a:rPr lang="en-IN" sz="1400">
                          <a:effectLst/>
                        </a:rPr>
                        <a:t>Trust (Government Corruption)</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400">
                          <a:effectLst/>
                        </a:rPr>
                        <a:t>0.9468206</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400" dirty="0">
                          <a:effectLst/>
                        </a:rPr>
                        <a:t>9.851825e-02</a:t>
                      </a:r>
                      <a:endParaRPr lang="en-IN" sz="1600" dirty="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468710388"/>
                  </a:ext>
                </a:extLst>
              </a:tr>
            </a:tbl>
          </a:graphicData>
        </a:graphic>
      </p:graphicFrame>
      <p:sp>
        <p:nvSpPr>
          <p:cNvPr id="14" name="TextBox 13">
            <a:extLst>
              <a:ext uri="{FF2B5EF4-FFF2-40B4-BE49-F238E27FC236}">
                <a16:creationId xmlns:a16="http://schemas.microsoft.com/office/drawing/2014/main" id="{7C93E030-5CA3-AF89-C43C-30C627D6B9DC}"/>
              </a:ext>
            </a:extLst>
          </p:cNvPr>
          <p:cNvSpPr txBox="1"/>
          <p:nvPr/>
        </p:nvSpPr>
        <p:spPr>
          <a:xfrm>
            <a:off x="6936828" y="4153754"/>
            <a:ext cx="5065986" cy="923330"/>
          </a:xfrm>
          <a:prstGeom prst="rect">
            <a:avLst/>
          </a:prstGeom>
          <a:noFill/>
        </p:spPr>
        <p:txBody>
          <a:bodyPr wrap="square">
            <a:spAutoFit/>
          </a:bodyPr>
          <a:lstStyle/>
          <a:p>
            <a:r>
              <a:rPr lang="en-US" dirty="0">
                <a:solidFill>
                  <a:schemeClr val="bg1">
                    <a:lumMod val="95000"/>
                  </a:schemeClr>
                </a:solidFill>
              </a:rPr>
              <a:t>From the table the Economy, Family, Health, Freedom and Trust are statically significant because the p-value is less than 0.05.</a:t>
            </a:r>
            <a:endParaRPr lang="en-IN" dirty="0">
              <a:solidFill>
                <a:schemeClr val="bg1">
                  <a:lumMod val="95000"/>
                </a:schemeClr>
              </a:solidFill>
            </a:endParaRPr>
          </a:p>
        </p:txBody>
      </p:sp>
    </p:spTree>
    <p:extLst>
      <p:ext uri="{BB962C8B-B14F-4D97-AF65-F5344CB8AC3E}">
        <p14:creationId xmlns:p14="http://schemas.microsoft.com/office/powerpoint/2010/main" val="2158820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429806"/>
            <a:ext cx="9906000" cy="706658"/>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91713" y="1595107"/>
            <a:ext cx="5504287" cy="570458"/>
          </a:xfrm>
        </p:spPr>
        <p:txBody>
          <a:bodyPr/>
          <a:lstStyle/>
          <a:p>
            <a:pPr algn="l"/>
            <a:r>
              <a:rPr lang="en-US" dirty="0"/>
              <a:t>The Accuracy metrics of model-1 training data are given in the below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8</a:t>
            </a:fld>
            <a:endParaRPr lang="en-US" dirty="0"/>
          </a:p>
        </p:txBody>
      </p:sp>
      <p:sp>
        <p:nvSpPr>
          <p:cNvPr id="9" name="TextBox 8">
            <a:extLst>
              <a:ext uri="{FF2B5EF4-FFF2-40B4-BE49-F238E27FC236}">
                <a16:creationId xmlns:a16="http://schemas.microsoft.com/office/drawing/2014/main" id="{8081B298-74E5-A717-AE07-FEF8C50043DA}"/>
              </a:ext>
            </a:extLst>
          </p:cNvPr>
          <p:cNvSpPr txBox="1"/>
          <p:nvPr/>
        </p:nvSpPr>
        <p:spPr>
          <a:xfrm>
            <a:off x="6416566" y="1595107"/>
            <a:ext cx="5775434" cy="646331"/>
          </a:xfrm>
          <a:prstGeom prst="rect">
            <a:avLst/>
          </a:prstGeom>
          <a:noFill/>
        </p:spPr>
        <p:txBody>
          <a:bodyPr wrap="square">
            <a:spAutoFit/>
          </a:bodyPr>
          <a:lstStyle/>
          <a:p>
            <a:r>
              <a:rPr lang="en-US" dirty="0">
                <a:solidFill>
                  <a:schemeClr val="bg1">
                    <a:lumMod val="95000"/>
                  </a:schemeClr>
                </a:solidFill>
              </a:rPr>
              <a:t>The Accuracy metrics of model-1 validation data are given in the below table.</a:t>
            </a:r>
            <a:endParaRPr lang="en-IN" dirty="0">
              <a:solidFill>
                <a:schemeClr val="bg1">
                  <a:lumMod val="95000"/>
                </a:schemeClr>
              </a:solidFill>
            </a:endParaRPr>
          </a:p>
        </p:txBody>
      </p:sp>
      <p:graphicFrame>
        <p:nvGraphicFramePr>
          <p:cNvPr id="10" name="Table 9">
            <a:extLst>
              <a:ext uri="{FF2B5EF4-FFF2-40B4-BE49-F238E27FC236}">
                <a16:creationId xmlns:a16="http://schemas.microsoft.com/office/drawing/2014/main" id="{915D443E-9D4A-1F0E-5AB4-887C918A961B}"/>
              </a:ext>
            </a:extLst>
          </p:cNvPr>
          <p:cNvGraphicFramePr>
            <a:graphicFrameLocks noGrp="1"/>
          </p:cNvGraphicFramePr>
          <p:nvPr>
            <p:extLst>
              <p:ext uri="{D42A27DB-BD31-4B8C-83A1-F6EECF244321}">
                <p14:modId xmlns:p14="http://schemas.microsoft.com/office/powerpoint/2010/main" val="1133058385"/>
              </p:ext>
            </p:extLst>
          </p:nvPr>
        </p:nvGraphicFramePr>
        <p:xfrm>
          <a:off x="981968" y="2624208"/>
          <a:ext cx="4723775" cy="1688214"/>
        </p:xfrm>
        <a:graphic>
          <a:graphicData uri="http://schemas.openxmlformats.org/drawingml/2006/table">
            <a:tbl>
              <a:tblPr firstRow="1" firstCol="1" bandRow="1">
                <a:tableStyleId>{5C22544A-7EE6-4342-B048-85BDC9FD1C3A}</a:tableStyleId>
              </a:tblPr>
              <a:tblGrid>
                <a:gridCol w="2050391">
                  <a:extLst>
                    <a:ext uri="{9D8B030D-6E8A-4147-A177-3AD203B41FA5}">
                      <a16:colId xmlns:a16="http://schemas.microsoft.com/office/drawing/2014/main" val="1521769092"/>
                    </a:ext>
                  </a:extLst>
                </a:gridCol>
                <a:gridCol w="2673384">
                  <a:extLst>
                    <a:ext uri="{9D8B030D-6E8A-4147-A177-3AD203B41FA5}">
                      <a16:colId xmlns:a16="http://schemas.microsoft.com/office/drawing/2014/main" val="4114475154"/>
                    </a:ext>
                  </a:extLst>
                </a:gridCol>
              </a:tblGrid>
              <a:tr h="143510">
                <a:tc>
                  <a:txBody>
                    <a:bodyPr/>
                    <a:lstStyle/>
                    <a:p>
                      <a:pPr marL="0" marR="0" algn="ctr">
                        <a:lnSpc>
                          <a:spcPct val="115000"/>
                        </a:lnSpc>
                        <a:spcBef>
                          <a:spcPts val="0"/>
                        </a:spcBef>
                        <a:spcAft>
                          <a:spcPts val="0"/>
                        </a:spcAft>
                      </a:pPr>
                      <a:r>
                        <a:rPr lang="en-IN" sz="1600">
                          <a:effectLst/>
                        </a:rPr>
                        <a:t>Metric</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716361135"/>
                  </a:ext>
                </a:extLst>
              </a:tr>
              <a:tr h="143510">
                <a:tc>
                  <a:txBody>
                    <a:bodyPr/>
                    <a:lstStyle/>
                    <a:p>
                      <a:pPr marL="0" marR="0">
                        <a:lnSpc>
                          <a:spcPct val="115000"/>
                        </a:lnSpc>
                        <a:spcBef>
                          <a:spcPts val="0"/>
                        </a:spcBef>
                        <a:spcAft>
                          <a:spcPts val="0"/>
                        </a:spcAft>
                      </a:pPr>
                      <a:r>
                        <a:rPr lang="en-IN" sz="1600">
                          <a:effectLst/>
                        </a:rPr>
                        <a:t>ME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1.946443e-15</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237534319"/>
                  </a:ext>
                </a:extLst>
              </a:tr>
              <a:tr h="143510">
                <a:tc>
                  <a:txBody>
                    <a:bodyPr/>
                    <a:lstStyle/>
                    <a:p>
                      <a:pPr marL="0" marR="0">
                        <a:lnSpc>
                          <a:spcPct val="115000"/>
                        </a:lnSpc>
                        <a:spcBef>
                          <a:spcPts val="0"/>
                        </a:spcBef>
                        <a:spcAft>
                          <a:spcPts val="0"/>
                        </a:spcAft>
                      </a:pPr>
                      <a:r>
                        <a:rPr lang="en-IN" sz="1600" dirty="0">
                          <a:effectLst/>
                        </a:rPr>
                        <a:t>RMSE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5.066885e-01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842148512"/>
                  </a:ext>
                </a:extLst>
              </a:tr>
              <a:tr h="143510">
                <a:tc>
                  <a:txBody>
                    <a:bodyPr/>
                    <a:lstStyle/>
                    <a:p>
                      <a:pPr marL="0" marR="0">
                        <a:lnSpc>
                          <a:spcPct val="115000"/>
                        </a:lnSpc>
                        <a:spcBef>
                          <a:spcPts val="0"/>
                        </a:spcBef>
                        <a:spcAft>
                          <a:spcPts val="0"/>
                        </a:spcAft>
                      </a:pPr>
                      <a:r>
                        <a:rPr lang="en-IN" sz="1600">
                          <a:effectLst/>
                        </a:rPr>
                        <a:t>MAE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3.930883e-01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662412185"/>
                  </a:ext>
                </a:extLst>
              </a:tr>
              <a:tr h="143510">
                <a:tc>
                  <a:txBody>
                    <a:bodyPr/>
                    <a:lstStyle/>
                    <a:p>
                      <a:pPr marL="0" marR="0">
                        <a:lnSpc>
                          <a:spcPct val="115000"/>
                        </a:lnSpc>
                        <a:spcBef>
                          <a:spcPts val="0"/>
                        </a:spcBef>
                        <a:spcAft>
                          <a:spcPts val="0"/>
                        </a:spcAft>
                      </a:pPr>
                      <a:r>
                        <a:rPr lang="en-IN" sz="1600">
                          <a:effectLst/>
                        </a:rPr>
                        <a:t>MPE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-9.901381e-01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065799511"/>
                  </a:ext>
                </a:extLst>
              </a:tr>
              <a:tr h="149860">
                <a:tc>
                  <a:txBody>
                    <a:bodyPr/>
                    <a:lstStyle/>
                    <a:p>
                      <a:pPr marL="0" marR="0">
                        <a:lnSpc>
                          <a:spcPct val="115000"/>
                        </a:lnSpc>
                        <a:spcBef>
                          <a:spcPts val="0"/>
                        </a:spcBef>
                        <a:spcAft>
                          <a:spcPts val="0"/>
                        </a:spcAft>
                      </a:pPr>
                      <a:r>
                        <a:rPr lang="en-IN" sz="1600">
                          <a:effectLst/>
                        </a:rPr>
                        <a:t>MAPE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dirty="0">
                          <a:effectLst/>
                        </a:rPr>
                        <a:t>7.956277e+00</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479012814"/>
                  </a:ext>
                </a:extLst>
              </a:tr>
            </a:tbl>
          </a:graphicData>
        </a:graphic>
      </p:graphicFrame>
      <p:graphicFrame>
        <p:nvGraphicFramePr>
          <p:cNvPr id="11" name="Table 10">
            <a:extLst>
              <a:ext uri="{FF2B5EF4-FFF2-40B4-BE49-F238E27FC236}">
                <a16:creationId xmlns:a16="http://schemas.microsoft.com/office/drawing/2014/main" id="{57A3CA4F-9AFF-8543-D4ED-299A7B9FA602}"/>
              </a:ext>
            </a:extLst>
          </p:cNvPr>
          <p:cNvGraphicFramePr>
            <a:graphicFrameLocks noGrp="1"/>
          </p:cNvGraphicFramePr>
          <p:nvPr>
            <p:extLst>
              <p:ext uri="{D42A27DB-BD31-4B8C-83A1-F6EECF244321}">
                <p14:modId xmlns:p14="http://schemas.microsoft.com/office/powerpoint/2010/main" val="2485867933"/>
              </p:ext>
            </p:extLst>
          </p:nvPr>
        </p:nvGraphicFramePr>
        <p:xfrm>
          <a:off x="6486259" y="2660374"/>
          <a:ext cx="4877437" cy="1688214"/>
        </p:xfrm>
        <a:graphic>
          <a:graphicData uri="http://schemas.openxmlformats.org/drawingml/2006/table">
            <a:tbl>
              <a:tblPr firstRow="1" firstCol="1" bandRow="1">
                <a:tableStyleId>{5C22544A-7EE6-4342-B048-85BDC9FD1C3A}</a:tableStyleId>
              </a:tblPr>
              <a:tblGrid>
                <a:gridCol w="2118551">
                  <a:extLst>
                    <a:ext uri="{9D8B030D-6E8A-4147-A177-3AD203B41FA5}">
                      <a16:colId xmlns:a16="http://schemas.microsoft.com/office/drawing/2014/main" val="2634561583"/>
                    </a:ext>
                  </a:extLst>
                </a:gridCol>
                <a:gridCol w="2758886">
                  <a:extLst>
                    <a:ext uri="{9D8B030D-6E8A-4147-A177-3AD203B41FA5}">
                      <a16:colId xmlns:a16="http://schemas.microsoft.com/office/drawing/2014/main" val="2019642660"/>
                    </a:ext>
                  </a:extLst>
                </a:gridCol>
              </a:tblGrid>
              <a:tr h="0">
                <a:tc>
                  <a:txBody>
                    <a:bodyPr/>
                    <a:lstStyle/>
                    <a:p>
                      <a:pPr marL="0" marR="0" algn="ctr">
                        <a:lnSpc>
                          <a:spcPct val="115000"/>
                        </a:lnSpc>
                        <a:spcBef>
                          <a:spcPts val="0"/>
                        </a:spcBef>
                        <a:spcAft>
                          <a:spcPts val="0"/>
                        </a:spcAft>
                      </a:pPr>
                      <a:r>
                        <a:rPr lang="en-IN" sz="1600">
                          <a:effectLst/>
                        </a:rPr>
                        <a:t>Metric</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50186475"/>
                  </a:ext>
                </a:extLst>
              </a:tr>
              <a:tr h="0">
                <a:tc>
                  <a:txBody>
                    <a:bodyPr/>
                    <a:lstStyle/>
                    <a:p>
                      <a:pPr marL="0" marR="0">
                        <a:lnSpc>
                          <a:spcPct val="115000"/>
                        </a:lnSpc>
                        <a:spcBef>
                          <a:spcPts val="0"/>
                        </a:spcBef>
                        <a:spcAft>
                          <a:spcPts val="0"/>
                        </a:spcAft>
                      </a:pPr>
                      <a:r>
                        <a:rPr lang="en-IN" sz="1600" dirty="0">
                          <a:effectLst/>
                        </a:rPr>
                        <a:t>ME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-0.07884785</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900683711"/>
                  </a:ext>
                </a:extLst>
              </a:tr>
              <a:tr h="0">
                <a:tc>
                  <a:txBody>
                    <a:bodyPr/>
                    <a:lstStyle/>
                    <a:p>
                      <a:pPr marL="0" marR="0">
                        <a:lnSpc>
                          <a:spcPct val="115000"/>
                        </a:lnSpc>
                        <a:spcBef>
                          <a:spcPts val="0"/>
                        </a:spcBef>
                        <a:spcAft>
                          <a:spcPts val="0"/>
                        </a:spcAft>
                      </a:pPr>
                      <a:r>
                        <a:rPr lang="en-IN" sz="1600">
                          <a:effectLst/>
                        </a:rPr>
                        <a:t>RMSE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0.59411122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653495876"/>
                  </a:ext>
                </a:extLst>
              </a:tr>
              <a:tr h="0">
                <a:tc>
                  <a:txBody>
                    <a:bodyPr/>
                    <a:lstStyle/>
                    <a:p>
                      <a:pPr marL="0" marR="0">
                        <a:lnSpc>
                          <a:spcPct val="115000"/>
                        </a:lnSpc>
                        <a:spcBef>
                          <a:spcPts val="0"/>
                        </a:spcBef>
                        <a:spcAft>
                          <a:spcPts val="0"/>
                        </a:spcAft>
                      </a:pPr>
                      <a:r>
                        <a:rPr lang="en-IN" sz="1600">
                          <a:effectLst/>
                        </a:rPr>
                        <a:t>MAE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0.47625401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15144064"/>
                  </a:ext>
                </a:extLst>
              </a:tr>
              <a:tr h="0">
                <a:tc>
                  <a:txBody>
                    <a:bodyPr/>
                    <a:lstStyle/>
                    <a:p>
                      <a:pPr marL="0" marR="0">
                        <a:lnSpc>
                          <a:spcPct val="115000"/>
                        </a:lnSpc>
                        <a:spcBef>
                          <a:spcPts val="0"/>
                        </a:spcBef>
                        <a:spcAft>
                          <a:spcPts val="0"/>
                        </a:spcAft>
                      </a:pPr>
                      <a:r>
                        <a:rPr lang="en-IN" sz="1600">
                          <a:effectLst/>
                        </a:rPr>
                        <a:t>MPE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-3.15213018</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752022045"/>
                  </a:ext>
                </a:extLst>
              </a:tr>
              <a:tr h="0">
                <a:tc>
                  <a:txBody>
                    <a:bodyPr/>
                    <a:lstStyle/>
                    <a:p>
                      <a:pPr marL="0" marR="0">
                        <a:lnSpc>
                          <a:spcPct val="115000"/>
                        </a:lnSpc>
                        <a:spcBef>
                          <a:spcPts val="0"/>
                        </a:spcBef>
                        <a:spcAft>
                          <a:spcPts val="0"/>
                        </a:spcAft>
                      </a:pPr>
                      <a:r>
                        <a:rPr lang="en-IN" sz="1600">
                          <a:effectLst/>
                        </a:rPr>
                        <a:t>MAPE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dirty="0">
                          <a:effectLst/>
                        </a:rPr>
                        <a:t>9.52431748</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077301062"/>
                  </a:ext>
                </a:extLst>
              </a:tr>
            </a:tbl>
          </a:graphicData>
        </a:graphic>
      </p:graphicFrame>
    </p:spTree>
    <p:extLst>
      <p:ext uri="{BB962C8B-B14F-4D97-AF65-F5344CB8AC3E}">
        <p14:creationId xmlns:p14="http://schemas.microsoft.com/office/powerpoint/2010/main" val="1591282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540073"/>
            <a:ext cx="9906000" cy="785486"/>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73741" y="1778603"/>
            <a:ext cx="8160355" cy="940180"/>
          </a:xfrm>
        </p:spPr>
        <p:txBody>
          <a:bodyPr/>
          <a:lstStyle/>
          <a:p>
            <a:pPr algn="l"/>
            <a:r>
              <a:rPr lang="en-US" dirty="0"/>
              <a:t>Model-2 is from Exhaustive Search. A linear regression model is fitted by using Economy, Family, and Health, Freedom. The coefficients of the model-2 are given in the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9</a:t>
            </a:fld>
            <a:endParaRPr lang="en-US" dirty="0"/>
          </a:p>
        </p:txBody>
      </p:sp>
      <p:graphicFrame>
        <p:nvGraphicFramePr>
          <p:cNvPr id="10" name="Table 9">
            <a:extLst>
              <a:ext uri="{FF2B5EF4-FFF2-40B4-BE49-F238E27FC236}">
                <a16:creationId xmlns:a16="http://schemas.microsoft.com/office/drawing/2014/main" id="{2FB8FAF8-2A4C-F660-DC67-004E73BA4D4B}"/>
              </a:ext>
            </a:extLst>
          </p:cNvPr>
          <p:cNvGraphicFramePr>
            <a:graphicFrameLocks noGrp="1"/>
          </p:cNvGraphicFramePr>
          <p:nvPr>
            <p:extLst>
              <p:ext uri="{D42A27DB-BD31-4B8C-83A1-F6EECF244321}">
                <p14:modId xmlns:p14="http://schemas.microsoft.com/office/powerpoint/2010/main" val="1612564857"/>
              </p:ext>
            </p:extLst>
          </p:nvPr>
        </p:nvGraphicFramePr>
        <p:xfrm>
          <a:off x="1876097" y="3033983"/>
          <a:ext cx="5524492" cy="2214068"/>
        </p:xfrm>
        <a:graphic>
          <a:graphicData uri="http://schemas.openxmlformats.org/drawingml/2006/table">
            <a:tbl>
              <a:tblPr firstRow="1" firstCol="1" bandRow="1">
                <a:tableStyleId>{5C22544A-7EE6-4342-B048-85BDC9FD1C3A}</a:tableStyleId>
              </a:tblPr>
              <a:tblGrid>
                <a:gridCol w="1901874">
                  <a:extLst>
                    <a:ext uri="{9D8B030D-6E8A-4147-A177-3AD203B41FA5}">
                      <a16:colId xmlns:a16="http://schemas.microsoft.com/office/drawing/2014/main" val="901987960"/>
                    </a:ext>
                  </a:extLst>
                </a:gridCol>
                <a:gridCol w="1476341">
                  <a:extLst>
                    <a:ext uri="{9D8B030D-6E8A-4147-A177-3AD203B41FA5}">
                      <a16:colId xmlns:a16="http://schemas.microsoft.com/office/drawing/2014/main" val="2565972137"/>
                    </a:ext>
                  </a:extLst>
                </a:gridCol>
                <a:gridCol w="2146277">
                  <a:extLst>
                    <a:ext uri="{9D8B030D-6E8A-4147-A177-3AD203B41FA5}">
                      <a16:colId xmlns:a16="http://schemas.microsoft.com/office/drawing/2014/main" val="2942052298"/>
                    </a:ext>
                  </a:extLst>
                </a:gridCol>
              </a:tblGrid>
              <a:tr h="277663">
                <a:tc>
                  <a:txBody>
                    <a:bodyPr/>
                    <a:lstStyle/>
                    <a:p>
                      <a:pPr marL="0" marR="0" algn="ctr">
                        <a:lnSpc>
                          <a:spcPct val="115000"/>
                        </a:lnSpc>
                        <a:spcBef>
                          <a:spcPts val="0"/>
                        </a:spcBef>
                        <a:spcAft>
                          <a:spcPts val="0"/>
                        </a:spcAft>
                      </a:pPr>
                      <a:r>
                        <a:rPr lang="en-IN" sz="1400">
                          <a:effectLst/>
                        </a:rPr>
                        <a:t>Variable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Estimate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P-value</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2225484637"/>
                  </a:ext>
                </a:extLst>
              </a:tr>
              <a:tr h="277663">
                <a:tc>
                  <a:txBody>
                    <a:bodyPr/>
                    <a:lstStyle/>
                    <a:p>
                      <a:pPr marL="0" marR="0">
                        <a:lnSpc>
                          <a:spcPct val="115000"/>
                        </a:lnSpc>
                        <a:spcBef>
                          <a:spcPts val="0"/>
                        </a:spcBef>
                        <a:spcAft>
                          <a:spcPts val="0"/>
                        </a:spcAft>
                      </a:pPr>
                      <a:r>
                        <a:rPr lang="en-IN" sz="1400">
                          <a:effectLst/>
                        </a:rPr>
                        <a:t>(Intercept)</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2.1154526</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IN" sz="1400">
                          <a:effectLst/>
                        </a:rPr>
                        <a:t>1.943498e-15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270819340"/>
                  </a:ext>
                </a:extLst>
              </a:tr>
              <a:tr h="551708">
                <a:tc>
                  <a:txBody>
                    <a:bodyPr/>
                    <a:lstStyle/>
                    <a:p>
                      <a:pPr marL="0" marR="0">
                        <a:lnSpc>
                          <a:spcPct val="115000"/>
                        </a:lnSpc>
                        <a:spcBef>
                          <a:spcPts val="0"/>
                        </a:spcBef>
                        <a:spcAft>
                          <a:spcPts val="0"/>
                        </a:spcAft>
                      </a:pPr>
                      <a:r>
                        <a:rPr lang="en-IN" sz="1400" dirty="0">
                          <a:effectLst/>
                        </a:rPr>
                        <a:t>Economy (GDP per Capita)</a:t>
                      </a:r>
                      <a:endParaRPr lang="en-IN" sz="16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0.9549486</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IN" sz="1400">
                          <a:effectLst/>
                        </a:rPr>
                        <a:t>6.311162e-04</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029299023"/>
                  </a:ext>
                </a:extLst>
              </a:tr>
              <a:tr h="277663">
                <a:tc>
                  <a:txBody>
                    <a:bodyPr/>
                    <a:lstStyle/>
                    <a:p>
                      <a:pPr marL="0" marR="0">
                        <a:lnSpc>
                          <a:spcPct val="115000"/>
                        </a:lnSpc>
                        <a:spcBef>
                          <a:spcPts val="0"/>
                        </a:spcBef>
                        <a:spcAft>
                          <a:spcPts val="0"/>
                        </a:spcAft>
                      </a:pPr>
                      <a:r>
                        <a:rPr lang="en-IN" sz="1400">
                          <a:effectLst/>
                        </a:rPr>
                        <a:t>Family</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1.1693528</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IN" sz="1400">
                          <a:effectLst/>
                        </a:rPr>
                        <a:t>4.121804e-05</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982130238"/>
                  </a:ext>
                </a:extLst>
              </a:tr>
              <a:tr h="551708">
                <a:tc>
                  <a:txBody>
                    <a:bodyPr/>
                    <a:lstStyle/>
                    <a:p>
                      <a:pPr marL="0" marR="0">
                        <a:lnSpc>
                          <a:spcPct val="115000"/>
                        </a:lnSpc>
                        <a:spcBef>
                          <a:spcPts val="0"/>
                        </a:spcBef>
                        <a:spcAft>
                          <a:spcPts val="0"/>
                        </a:spcAft>
                      </a:pPr>
                      <a:r>
                        <a:rPr lang="en-IN" sz="1400">
                          <a:effectLst/>
                        </a:rPr>
                        <a:t>Health (Life Expectancy)</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0.9864084</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IN" sz="1400">
                          <a:effectLst/>
                        </a:rPr>
                        <a:t>1.548106e-02</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133933705"/>
                  </a:ext>
                </a:extLst>
              </a:tr>
              <a:tr h="277663">
                <a:tc>
                  <a:txBody>
                    <a:bodyPr/>
                    <a:lstStyle/>
                    <a:p>
                      <a:pPr marL="0" marR="0">
                        <a:lnSpc>
                          <a:spcPct val="115000"/>
                        </a:lnSpc>
                        <a:spcBef>
                          <a:spcPts val="0"/>
                        </a:spcBef>
                        <a:spcAft>
                          <a:spcPts val="0"/>
                        </a:spcAft>
                      </a:pPr>
                      <a:r>
                        <a:rPr lang="en-IN" sz="1400">
                          <a:effectLst/>
                        </a:rPr>
                        <a:t>Freedom</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400">
                          <a:effectLst/>
                        </a:rPr>
                        <a:t>1.6480258</a:t>
                      </a:r>
                      <a:endParaRPr lang="en-IN" sz="16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IN" sz="1400" dirty="0">
                          <a:effectLst/>
                        </a:rPr>
                        <a:t>1.693580e-04</a:t>
                      </a:r>
                      <a:endParaRPr lang="en-IN" sz="1600" dirty="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3595321187"/>
                  </a:ext>
                </a:extLst>
              </a:tr>
            </a:tbl>
          </a:graphicData>
        </a:graphic>
      </p:graphicFrame>
      <p:sp>
        <p:nvSpPr>
          <p:cNvPr id="14" name="TextBox 13">
            <a:extLst>
              <a:ext uri="{FF2B5EF4-FFF2-40B4-BE49-F238E27FC236}">
                <a16:creationId xmlns:a16="http://schemas.microsoft.com/office/drawing/2014/main" id="{B4A51359-B6C4-1DF5-4241-64BC53FB977C}"/>
              </a:ext>
            </a:extLst>
          </p:cNvPr>
          <p:cNvSpPr txBox="1"/>
          <p:nvPr/>
        </p:nvSpPr>
        <p:spPr>
          <a:xfrm>
            <a:off x="7717835" y="3677553"/>
            <a:ext cx="4474165" cy="923330"/>
          </a:xfrm>
          <a:prstGeom prst="rect">
            <a:avLst/>
          </a:prstGeom>
          <a:noFill/>
        </p:spPr>
        <p:txBody>
          <a:bodyPr wrap="square">
            <a:spAutoFit/>
          </a:bodyPr>
          <a:lstStyle/>
          <a:p>
            <a:r>
              <a:rPr lang="en-US" dirty="0">
                <a:solidFill>
                  <a:schemeClr val="bg1">
                    <a:lumMod val="95000"/>
                  </a:schemeClr>
                </a:solidFill>
              </a:rPr>
              <a:t>From the table the Economy, Family, Health and Freedom are statically significant because the p-value is less than 0.05.</a:t>
            </a:r>
            <a:endParaRPr lang="en-IN" dirty="0">
              <a:solidFill>
                <a:schemeClr val="bg1">
                  <a:lumMod val="95000"/>
                </a:schemeClr>
              </a:solidFill>
            </a:endParaRPr>
          </a:p>
        </p:txBody>
      </p:sp>
    </p:spTree>
    <p:extLst>
      <p:ext uri="{BB962C8B-B14F-4D97-AF65-F5344CB8AC3E}">
        <p14:creationId xmlns:p14="http://schemas.microsoft.com/office/powerpoint/2010/main" val="209429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58106" y="529390"/>
            <a:ext cx="9906000" cy="725466"/>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73742" y="1643629"/>
            <a:ext cx="5537364" cy="357624"/>
          </a:xfrm>
        </p:spPr>
        <p:txBody>
          <a:bodyPr/>
          <a:lstStyle/>
          <a:p>
            <a:pPr algn="l"/>
            <a:r>
              <a:rPr lang="en-US" dirty="0"/>
              <a:t>The Accuracy metrics of model-2 training data are given in the below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10</a:t>
            </a:fld>
            <a:endParaRPr lang="en-US" dirty="0"/>
          </a:p>
        </p:txBody>
      </p:sp>
      <p:graphicFrame>
        <p:nvGraphicFramePr>
          <p:cNvPr id="6" name="Table 5">
            <a:extLst>
              <a:ext uri="{FF2B5EF4-FFF2-40B4-BE49-F238E27FC236}">
                <a16:creationId xmlns:a16="http://schemas.microsoft.com/office/drawing/2014/main" id="{B7BAA9A3-1960-CAEF-9528-3C5D26219019}"/>
              </a:ext>
            </a:extLst>
          </p:cNvPr>
          <p:cNvGraphicFramePr>
            <a:graphicFrameLocks noGrp="1"/>
          </p:cNvGraphicFramePr>
          <p:nvPr>
            <p:extLst>
              <p:ext uri="{D42A27DB-BD31-4B8C-83A1-F6EECF244321}">
                <p14:modId xmlns:p14="http://schemas.microsoft.com/office/powerpoint/2010/main" val="3794586249"/>
              </p:ext>
            </p:extLst>
          </p:nvPr>
        </p:nvGraphicFramePr>
        <p:xfrm>
          <a:off x="1027540" y="2855214"/>
          <a:ext cx="4629768" cy="1885188"/>
        </p:xfrm>
        <a:graphic>
          <a:graphicData uri="http://schemas.openxmlformats.org/drawingml/2006/table">
            <a:tbl>
              <a:tblPr firstRow="1" firstCol="1" bandRow="1">
                <a:tableStyleId>{5C22544A-7EE6-4342-B048-85BDC9FD1C3A}</a:tableStyleId>
              </a:tblPr>
              <a:tblGrid>
                <a:gridCol w="2201407">
                  <a:extLst>
                    <a:ext uri="{9D8B030D-6E8A-4147-A177-3AD203B41FA5}">
                      <a16:colId xmlns:a16="http://schemas.microsoft.com/office/drawing/2014/main" val="1682123072"/>
                    </a:ext>
                  </a:extLst>
                </a:gridCol>
                <a:gridCol w="2428361">
                  <a:extLst>
                    <a:ext uri="{9D8B030D-6E8A-4147-A177-3AD203B41FA5}">
                      <a16:colId xmlns:a16="http://schemas.microsoft.com/office/drawing/2014/main" val="56629707"/>
                    </a:ext>
                  </a:extLst>
                </a:gridCol>
              </a:tblGrid>
              <a:tr h="0">
                <a:tc>
                  <a:txBody>
                    <a:bodyPr/>
                    <a:lstStyle/>
                    <a:p>
                      <a:pPr marL="0" marR="0" algn="ctr">
                        <a:lnSpc>
                          <a:spcPct val="115000"/>
                        </a:lnSpc>
                        <a:spcBef>
                          <a:spcPts val="0"/>
                        </a:spcBef>
                        <a:spcAft>
                          <a:spcPts val="0"/>
                        </a:spcAft>
                      </a:pPr>
                      <a:r>
                        <a:rPr lang="en-IN" sz="1800">
                          <a:effectLst/>
                        </a:rPr>
                        <a:t>Metric</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Value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7502113"/>
                  </a:ext>
                </a:extLst>
              </a:tr>
              <a:tr h="0">
                <a:tc>
                  <a:txBody>
                    <a:bodyPr/>
                    <a:lstStyle/>
                    <a:p>
                      <a:pPr marL="0" marR="0">
                        <a:lnSpc>
                          <a:spcPct val="115000"/>
                        </a:lnSpc>
                        <a:spcBef>
                          <a:spcPts val="0"/>
                        </a:spcBef>
                        <a:spcAft>
                          <a:spcPts val="0"/>
                        </a:spcAft>
                      </a:pPr>
                      <a:r>
                        <a:rPr lang="en-IN" sz="1800">
                          <a:effectLst/>
                        </a:rPr>
                        <a:t>ME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1.795258e-15</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529714204"/>
                  </a:ext>
                </a:extLst>
              </a:tr>
              <a:tr h="0">
                <a:tc>
                  <a:txBody>
                    <a:bodyPr/>
                    <a:lstStyle/>
                    <a:p>
                      <a:pPr marL="0" marR="0">
                        <a:lnSpc>
                          <a:spcPct val="115000"/>
                        </a:lnSpc>
                        <a:spcBef>
                          <a:spcPts val="0"/>
                        </a:spcBef>
                        <a:spcAft>
                          <a:spcPts val="0"/>
                        </a:spcAft>
                      </a:pPr>
                      <a:r>
                        <a:rPr lang="en-IN" sz="1800">
                          <a:effectLst/>
                        </a:rPr>
                        <a:t>RMSE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5.146528e-01</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158005772"/>
                  </a:ext>
                </a:extLst>
              </a:tr>
              <a:tr h="0">
                <a:tc>
                  <a:txBody>
                    <a:bodyPr/>
                    <a:lstStyle/>
                    <a:p>
                      <a:pPr marL="0" marR="0">
                        <a:lnSpc>
                          <a:spcPct val="115000"/>
                        </a:lnSpc>
                        <a:spcBef>
                          <a:spcPts val="0"/>
                        </a:spcBef>
                        <a:spcAft>
                          <a:spcPts val="0"/>
                        </a:spcAft>
                      </a:pPr>
                      <a:r>
                        <a:rPr lang="en-IN" sz="1800" dirty="0">
                          <a:effectLst/>
                        </a:rPr>
                        <a:t>MAE</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4.013407e-01</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370472846"/>
                  </a:ext>
                </a:extLst>
              </a:tr>
              <a:tr h="0">
                <a:tc>
                  <a:txBody>
                    <a:bodyPr/>
                    <a:lstStyle/>
                    <a:p>
                      <a:pPr marL="0" marR="0">
                        <a:lnSpc>
                          <a:spcPct val="115000"/>
                        </a:lnSpc>
                        <a:spcBef>
                          <a:spcPts val="0"/>
                        </a:spcBef>
                        <a:spcAft>
                          <a:spcPts val="0"/>
                        </a:spcAft>
                      </a:pPr>
                      <a:r>
                        <a:rPr lang="en-IN" sz="1800">
                          <a:effectLst/>
                        </a:rPr>
                        <a:t>MPE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-9.831080e-01</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690752715"/>
                  </a:ext>
                </a:extLst>
              </a:tr>
              <a:tr h="0">
                <a:tc>
                  <a:txBody>
                    <a:bodyPr/>
                    <a:lstStyle/>
                    <a:p>
                      <a:pPr marL="0" marR="0">
                        <a:lnSpc>
                          <a:spcPct val="115000"/>
                        </a:lnSpc>
                        <a:spcBef>
                          <a:spcPts val="0"/>
                        </a:spcBef>
                        <a:spcAft>
                          <a:spcPts val="0"/>
                        </a:spcAft>
                      </a:pPr>
                      <a:r>
                        <a:rPr lang="en-IN" sz="1800">
                          <a:effectLst/>
                        </a:rPr>
                        <a:t>MAPE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dirty="0">
                          <a:effectLst/>
                        </a:rPr>
                        <a:t>8.046654e+00</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368767759"/>
                  </a:ext>
                </a:extLst>
              </a:tr>
            </a:tbl>
          </a:graphicData>
        </a:graphic>
      </p:graphicFrame>
      <p:sp>
        <p:nvSpPr>
          <p:cNvPr id="12" name="TextBox 11">
            <a:extLst>
              <a:ext uri="{FF2B5EF4-FFF2-40B4-BE49-F238E27FC236}">
                <a16:creationId xmlns:a16="http://schemas.microsoft.com/office/drawing/2014/main" id="{777E250F-40A8-D9CD-BA64-D502572EC1B2}"/>
              </a:ext>
            </a:extLst>
          </p:cNvPr>
          <p:cNvSpPr txBox="1"/>
          <p:nvPr/>
        </p:nvSpPr>
        <p:spPr>
          <a:xfrm>
            <a:off x="6447991" y="1678087"/>
            <a:ext cx="5744009" cy="646331"/>
          </a:xfrm>
          <a:prstGeom prst="rect">
            <a:avLst/>
          </a:prstGeom>
          <a:noFill/>
        </p:spPr>
        <p:txBody>
          <a:bodyPr wrap="square">
            <a:spAutoFit/>
          </a:bodyPr>
          <a:lstStyle/>
          <a:p>
            <a:r>
              <a:rPr lang="en-US" dirty="0">
                <a:solidFill>
                  <a:schemeClr val="bg1">
                    <a:lumMod val="95000"/>
                  </a:schemeClr>
                </a:solidFill>
              </a:rPr>
              <a:t>The Accuracy metrics of model-2 validation data are given in the below table.</a:t>
            </a:r>
            <a:endParaRPr lang="en-IN" dirty="0">
              <a:solidFill>
                <a:schemeClr val="bg1">
                  <a:lumMod val="95000"/>
                </a:schemeClr>
              </a:solidFill>
            </a:endParaRPr>
          </a:p>
        </p:txBody>
      </p:sp>
      <p:graphicFrame>
        <p:nvGraphicFramePr>
          <p:cNvPr id="13" name="Table 12">
            <a:extLst>
              <a:ext uri="{FF2B5EF4-FFF2-40B4-BE49-F238E27FC236}">
                <a16:creationId xmlns:a16="http://schemas.microsoft.com/office/drawing/2014/main" id="{402F8DEC-4C7A-8841-C3E2-4F07D399FBCE}"/>
              </a:ext>
            </a:extLst>
          </p:cNvPr>
          <p:cNvGraphicFramePr>
            <a:graphicFrameLocks noGrp="1"/>
          </p:cNvGraphicFramePr>
          <p:nvPr>
            <p:extLst>
              <p:ext uri="{D42A27DB-BD31-4B8C-83A1-F6EECF244321}">
                <p14:modId xmlns:p14="http://schemas.microsoft.com/office/powerpoint/2010/main" val="1760493448"/>
              </p:ext>
            </p:extLst>
          </p:nvPr>
        </p:nvGraphicFramePr>
        <p:xfrm>
          <a:off x="6839492" y="2855214"/>
          <a:ext cx="4524204" cy="1885188"/>
        </p:xfrm>
        <a:graphic>
          <a:graphicData uri="http://schemas.openxmlformats.org/drawingml/2006/table">
            <a:tbl>
              <a:tblPr firstRow="1" firstCol="1" bandRow="1">
                <a:tableStyleId>{5C22544A-7EE6-4342-B048-85BDC9FD1C3A}</a:tableStyleId>
              </a:tblPr>
              <a:tblGrid>
                <a:gridCol w="2151212">
                  <a:extLst>
                    <a:ext uri="{9D8B030D-6E8A-4147-A177-3AD203B41FA5}">
                      <a16:colId xmlns:a16="http://schemas.microsoft.com/office/drawing/2014/main" val="2353841904"/>
                    </a:ext>
                  </a:extLst>
                </a:gridCol>
                <a:gridCol w="2372992">
                  <a:extLst>
                    <a:ext uri="{9D8B030D-6E8A-4147-A177-3AD203B41FA5}">
                      <a16:colId xmlns:a16="http://schemas.microsoft.com/office/drawing/2014/main" val="722970405"/>
                    </a:ext>
                  </a:extLst>
                </a:gridCol>
              </a:tblGrid>
              <a:tr h="314198">
                <a:tc>
                  <a:txBody>
                    <a:bodyPr/>
                    <a:lstStyle/>
                    <a:p>
                      <a:pPr marL="0" marR="0" algn="ctr">
                        <a:lnSpc>
                          <a:spcPct val="115000"/>
                        </a:lnSpc>
                        <a:spcBef>
                          <a:spcPts val="0"/>
                        </a:spcBef>
                        <a:spcAft>
                          <a:spcPts val="0"/>
                        </a:spcAft>
                      </a:pPr>
                      <a:r>
                        <a:rPr lang="en-IN" sz="1600">
                          <a:effectLst/>
                        </a:rPr>
                        <a:t>Metric</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347505248"/>
                  </a:ext>
                </a:extLst>
              </a:tr>
              <a:tr h="314198">
                <a:tc>
                  <a:txBody>
                    <a:bodyPr/>
                    <a:lstStyle/>
                    <a:p>
                      <a:pPr marL="0" marR="0">
                        <a:lnSpc>
                          <a:spcPct val="115000"/>
                        </a:lnSpc>
                        <a:spcBef>
                          <a:spcPts val="0"/>
                        </a:spcBef>
                        <a:spcAft>
                          <a:spcPts val="0"/>
                        </a:spcAft>
                      </a:pPr>
                      <a:r>
                        <a:rPr lang="en-IN" sz="1600">
                          <a:effectLst/>
                        </a:rPr>
                        <a:t>ME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-0.08561617</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848570947"/>
                  </a:ext>
                </a:extLst>
              </a:tr>
              <a:tr h="314198">
                <a:tc>
                  <a:txBody>
                    <a:bodyPr/>
                    <a:lstStyle/>
                    <a:p>
                      <a:pPr marL="0" marR="0">
                        <a:lnSpc>
                          <a:spcPct val="115000"/>
                        </a:lnSpc>
                        <a:spcBef>
                          <a:spcPts val="0"/>
                        </a:spcBef>
                        <a:spcAft>
                          <a:spcPts val="0"/>
                        </a:spcAft>
                      </a:pPr>
                      <a:r>
                        <a:rPr lang="en-IN" sz="1600" dirty="0">
                          <a:effectLst/>
                        </a:rPr>
                        <a:t>RMSE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0.59965537</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469011469"/>
                  </a:ext>
                </a:extLst>
              </a:tr>
              <a:tr h="314198">
                <a:tc>
                  <a:txBody>
                    <a:bodyPr/>
                    <a:lstStyle/>
                    <a:p>
                      <a:pPr marL="0" marR="0">
                        <a:lnSpc>
                          <a:spcPct val="115000"/>
                        </a:lnSpc>
                        <a:spcBef>
                          <a:spcPts val="0"/>
                        </a:spcBef>
                        <a:spcAft>
                          <a:spcPts val="0"/>
                        </a:spcAft>
                      </a:pPr>
                      <a:r>
                        <a:rPr lang="en-IN" sz="1600">
                          <a:effectLst/>
                        </a:rPr>
                        <a:t>MAE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0.49029519</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248446943"/>
                  </a:ext>
                </a:extLst>
              </a:tr>
              <a:tr h="314198">
                <a:tc>
                  <a:txBody>
                    <a:bodyPr/>
                    <a:lstStyle/>
                    <a:p>
                      <a:pPr marL="0" marR="0">
                        <a:lnSpc>
                          <a:spcPct val="115000"/>
                        </a:lnSpc>
                        <a:spcBef>
                          <a:spcPts val="0"/>
                        </a:spcBef>
                        <a:spcAft>
                          <a:spcPts val="0"/>
                        </a:spcAft>
                      </a:pPr>
                      <a:r>
                        <a:rPr lang="en-IN" sz="1600">
                          <a:effectLst/>
                        </a:rPr>
                        <a:t>MPE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-3.24505690</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078947544"/>
                  </a:ext>
                </a:extLst>
              </a:tr>
              <a:tr h="314198">
                <a:tc>
                  <a:txBody>
                    <a:bodyPr/>
                    <a:lstStyle/>
                    <a:p>
                      <a:pPr marL="0" marR="0">
                        <a:lnSpc>
                          <a:spcPct val="115000"/>
                        </a:lnSpc>
                        <a:spcBef>
                          <a:spcPts val="0"/>
                        </a:spcBef>
                        <a:spcAft>
                          <a:spcPts val="0"/>
                        </a:spcAft>
                      </a:pPr>
                      <a:r>
                        <a:rPr lang="en-IN" sz="1600">
                          <a:effectLst/>
                        </a:rPr>
                        <a:t>MAPE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dirty="0">
                          <a:effectLst/>
                        </a:rPr>
                        <a:t>9.76196052</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96101266"/>
                  </a:ext>
                </a:extLst>
              </a:tr>
            </a:tbl>
          </a:graphicData>
        </a:graphic>
      </p:graphicFrame>
    </p:spTree>
    <p:extLst>
      <p:ext uri="{BB962C8B-B14F-4D97-AF65-F5344CB8AC3E}">
        <p14:creationId xmlns:p14="http://schemas.microsoft.com/office/powerpoint/2010/main" val="255559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143000" y="355071"/>
            <a:ext cx="9906000" cy="750709"/>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58636" y="1547376"/>
            <a:ext cx="7687006" cy="1147698"/>
          </a:xfrm>
        </p:spPr>
        <p:txBody>
          <a:bodyPr/>
          <a:lstStyle/>
          <a:p>
            <a:pPr algn="l"/>
            <a:r>
              <a:rPr lang="en-US" dirty="0"/>
              <a:t>Model-3 is from Exhaustive Search. A linear regression model is fitted by using Economy, Family, and Freedom. The coefficients of the model-3 are given in the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11</a:t>
            </a:fld>
            <a:endParaRPr lang="en-US" dirty="0"/>
          </a:p>
        </p:txBody>
      </p:sp>
      <p:graphicFrame>
        <p:nvGraphicFramePr>
          <p:cNvPr id="8" name="Table 7">
            <a:extLst>
              <a:ext uri="{FF2B5EF4-FFF2-40B4-BE49-F238E27FC236}">
                <a16:creationId xmlns:a16="http://schemas.microsoft.com/office/drawing/2014/main" id="{EF99446D-0679-37D8-EF10-06956B838B68}"/>
              </a:ext>
            </a:extLst>
          </p:cNvPr>
          <p:cNvGraphicFramePr>
            <a:graphicFrameLocks noGrp="1"/>
          </p:cNvGraphicFramePr>
          <p:nvPr>
            <p:extLst>
              <p:ext uri="{D42A27DB-BD31-4B8C-83A1-F6EECF244321}">
                <p14:modId xmlns:p14="http://schemas.microsoft.com/office/powerpoint/2010/main" val="2891603537"/>
              </p:ext>
            </p:extLst>
          </p:nvPr>
        </p:nvGraphicFramePr>
        <p:xfrm>
          <a:off x="1620253" y="2919664"/>
          <a:ext cx="5474805" cy="2117261"/>
        </p:xfrm>
        <a:graphic>
          <a:graphicData uri="http://schemas.openxmlformats.org/drawingml/2006/table">
            <a:tbl>
              <a:tblPr firstRow="1" firstCol="1" bandRow="1">
                <a:tableStyleId>{5C22544A-7EE6-4342-B048-85BDC9FD1C3A}</a:tableStyleId>
              </a:tblPr>
              <a:tblGrid>
                <a:gridCol w="1884769">
                  <a:extLst>
                    <a:ext uri="{9D8B030D-6E8A-4147-A177-3AD203B41FA5}">
                      <a16:colId xmlns:a16="http://schemas.microsoft.com/office/drawing/2014/main" val="2953701844"/>
                    </a:ext>
                  </a:extLst>
                </a:gridCol>
                <a:gridCol w="1463062">
                  <a:extLst>
                    <a:ext uri="{9D8B030D-6E8A-4147-A177-3AD203B41FA5}">
                      <a16:colId xmlns:a16="http://schemas.microsoft.com/office/drawing/2014/main" val="616813980"/>
                    </a:ext>
                  </a:extLst>
                </a:gridCol>
                <a:gridCol w="2126974">
                  <a:extLst>
                    <a:ext uri="{9D8B030D-6E8A-4147-A177-3AD203B41FA5}">
                      <a16:colId xmlns:a16="http://schemas.microsoft.com/office/drawing/2014/main" val="508829433"/>
                    </a:ext>
                  </a:extLst>
                </a:gridCol>
              </a:tblGrid>
              <a:tr h="353076">
                <a:tc>
                  <a:txBody>
                    <a:bodyPr/>
                    <a:lstStyle/>
                    <a:p>
                      <a:pPr marL="0" marR="0" algn="ctr">
                        <a:lnSpc>
                          <a:spcPct val="115000"/>
                        </a:lnSpc>
                        <a:spcBef>
                          <a:spcPts val="0"/>
                        </a:spcBef>
                        <a:spcAft>
                          <a:spcPts val="0"/>
                        </a:spcAft>
                      </a:pPr>
                      <a:r>
                        <a:rPr lang="en-IN" sz="1600">
                          <a:effectLst/>
                        </a:rPr>
                        <a:t>Variable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Estimate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P-value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014773427"/>
                  </a:ext>
                </a:extLst>
              </a:tr>
              <a:tr h="353076">
                <a:tc>
                  <a:txBody>
                    <a:bodyPr/>
                    <a:lstStyle/>
                    <a:p>
                      <a:pPr marL="0" marR="0">
                        <a:lnSpc>
                          <a:spcPct val="115000"/>
                        </a:lnSpc>
                        <a:spcBef>
                          <a:spcPts val="0"/>
                        </a:spcBef>
                        <a:spcAft>
                          <a:spcPts val="0"/>
                        </a:spcAft>
                      </a:pPr>
                      <a:r>
                        <a:rPr lang="en-IN" sz="1600">
                          <a:effectLst/>
                        </a:rPr>
                        <a:t>(Intercept)</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2.308341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600">
                          <a:effectLst/>
                        </a:rPr>
                        <a:t>3.465013e-18</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052885733"/>
                  </a:ext>
                </a:extLst>
              </a:tr>
              <a:tr h="704957">
                <a:tc>
                  <a:txBody>
                    <a:bodyPr/>
                    <a:lstStyle/>
                    <a:p>
                      <a:pPr marL="0" marR="0">
                        <a:lnSpc>
                          <a:spcPct val="115000"/>
                        </a:lnSpc>
                        <a:spcBef>
                          <a:spcPts val="0"/>
                        </a:spcBef>
                        <a:spcAft>
                          <a:spcPts val="0"/>
                        </a:spcAft>
                      </a:pPr>
                      <a:r>
                        <a:rPr lang="en-IN" sz="1600">
                          <a:effectLst/>
                        </a:rPr>
                        <a:t>Economy (GDP per Capita)</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1.463224</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600">
                          <a:effectLst/>
                        </a:rPr>
                        <a:t>1.665805e-12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99538938"/>
                  </a:ext>
                </a:extLst>
              </a:tr>
              <a:tr h="353076">
                <a:tc>
                  <a:txBody>
                    <a:bodyPr/>
                    <a:lstStyle/>
                    <a:p>
                      <a:pPr marL="0" marR="0">
                        <a:lnSpc>
                          <a:spcPct val="115000"/>
                        </a:lnSpc>
                        <a:spcBef>
                          <a:spcPts val="0"/>
                        </a:spcBef>
                        <a:spcAft>
                          <a:spcPts val="0"/>
                        </a:spcAft>
                      </a:pPr>
                      <a:r>
                        <a:rPr lang="en-IN" sz="1600" dirty="0">
                          <a:effectLst/>
                        </a:rPr>
                        <a:t>Family</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1.207391</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600">
                          <a:effectLst/>
                        </a:rPr>
                        <a:t>3.697743e-05</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2393982188"/>
                  </a:ext>
                </a:extLst>
              </a:tr>
              <a:tr h="353076">
                <a:tc>
                  <a:txBody>
                    <a:bodyPr/>
                    <a:lstStyle/>
                    <a:p>
                      <a:pPr marL="0" marR="0">
                        <a:lnSpc>
                          <a:spcPct val="115000"/>
                        </a:lnSpc>
                        <a:spcBef>
                          <a:spcPts val="0"/>
                        </a:spcBef>
                        <a:spcAft>
                          <a:spcPts val="0"/>
                        </a:spcAft>
                      </a:pPr>
                      <a:r>
                        <a:rPr lang="en-IN" sz="1600">
                          <a:effectLst/>
                        </a:rPr>
                        <a:t>Freedom</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US" sz="1600">
                          <a:effectLst/>
                        </a:rPr>
                        <a:t>1.559752</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tc>
                <a:tc>
                  <a:txBody>
                    <a:bodyPr/>
                    <a:lstStyle/>
                    <a:p>
                      <a:pPr marL="0" marR="0" algn="ctr">
                        <a:lnSpc>
                          <a:spcPct val="115000"/>
                        </a:lnSpc>
                        <a:spcBef>
                          <a:spcPts val="0"/>
                        </a:spcBef>
                        <a:spcAft>
                          <a:spcPts val="0"/>
                        </a:spcAft>
                      </a:pPr>
                      <a:r>
                        <a:rPr lang="en-US" sz="1600" dirty="0">
                          <a:effectLst/>
                        </a:rPr>
                        <a:t>4.718943e-04</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tc>
                <a:extLst>
                  <a:ext uri="{0D108BD9-81ED-4DB2-BD59-A6C34878D82A}">
                    <a16:rowId xmlns:a16="http://schemas.microsoft.com/office/drawing/2014/main" val="1720990824"/>
                  </a:ext>
                </a:extLst>
              </a:tr>
            </a:tbl>
          </a:graphicData>
        </a:graphic>
      </p:graphicFrame>
      <p:sp>
        <p:nvSpPr>
          <p:cNvPr id="12" name="TextBox 11">
            <a:extLst>
              <a:ext uri="{FF2B5EF4-FFF2-40B4-BE49-F238E27FC236}">
                <a16:creationId xmlns:a16="http://schemas.microsoft.com/office/drawing/2014/main" id="{6ADF72E7-58BF-6C8D-677A-5AA9A84B90DD}"/>
              </a:ext>
            </a:extLst>
          </p:cNvPr>
          <p:cNvSpPr txBox="1"/>
          <p:nvPr/>
        </p:nvSpPr>
        <p:spPr>
          <a:xfrm>
            <a:off x="7603958" y="3655128"/>
            <a:ext cx="4267200" cy="646331"/>
          </a:xfrm>
          <a:prstGeom prst="rect">
            <a:avLst/>
          </a:prstGeom>
          <a:noFill/>
        </p:spPr>
        <p:txBody>
          <a:bodyPr wrap="square">
            <a:spAutoFit/>
          </a:bodyPr>
          <a:lstStyle/>
          <a:p>
            <a:r>
              <a:rPr lang="en-US" dirty="0">
                <a:solidFill>
                  <a:schemeClr val="bg1">
                    <a:lumMod val="95000"/>
                  </a:schemeClr>
                </a:solidFill>
              </a:rPr>
              <a:t>From the table the Economy, Family and Freedom are statically significant.</a:t>
            </a:r>
            <a:endParaRPr lang="en-IN" dirty="0">
              <a:solidFill>
                <a:schemeClr val="bg1">
                  <a:lumMod val="95000"/>
                </a:schemeClr>
              </a:solidFill>
            </a:endParaRPr>
          </a:p>
        </p:txBody>
      </p:sp>
    </p:spTree>
    <p:extLst>
      <p:ext uri="{BB962C8B-B14F-4D97-AF65-F5344CB8AC3E}">
        <p14:creationId xmlns:p14="http://schemas.microsoft.com/office/powerpoint/2010/main" val="289264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457696" y="545431"/>
            <a:ext cx="9906000" cy="704634"/>
          </a:xfrm>
        </p:spPr>
        <p:txBody>
          <a:bodyPr/>
          <a:lstStyle/>
          <a:p>
            <a:pPr algn="l"/>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558636" y="1574742"/>
            <a:ext cx="5537364" cy="357624"/>
          </a:xfrm>
        </p:spPr>
        <p:txBody>
          <a:bodyPr/>
          <a:lstStyle/>
          <a:p>
            <a:pPr algn="l"/>
            <a:r>
              <a:rPr lang="en-US" dirty="0"/>
              <a:t>The Accuracy metrics of model-3 training data are given in the below table.</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12</a:t>
            </a:fld>
            <a:endParaRPr lang="en-US" dirty="0"/>
          </a:p>
        </p:txBody>
      </p:sp>
      <p:graphicFrame>
        <p:nvGraphicFramePr>
          <p:cNvPr id="5" name="Table 4">
            <a:extLst>
              <a:ext uri="{FF2B5EF4-FFF2-40B4-BE49-F238E27FC236}">
                <a16:creationId xmlns:a16="http://schemas.microsoft.com/office/drawing/2014/main" id="{61E0241F-C781-8B68-E1EA-D67AE2067EC2}"/>
              </a:ext>
            </a:extLst>
          </p:cNvPr>
          <p:cNvGraphicFramePr>
            <a:graphicFrameLocks noGrp="1"/>
          </p:cNvGraphicFramePr>
          <p:nvPr>
            <p:extLst>
              <p:ext uri="{D42A27DB-BD31-4B8C-83A1-F6EECF244321}">
                <p14:modId xmlns:p14="http://schemas.microsoft.com/office/powerpoint/2010/main" val="2213148499"/>
              </p:ext>
            </p:extLst>
          </p:nvPr>
        </p:nvGraphicFramePr>
        <p:xfrm>
          <a:off x="821608" y="2855214"/>
          <a:ext cx="5011420" cy="1885188"/>
        </p:xfrm>
        <a:graphic>
          <a:graphicData uri="http://schemas.openxmlformats.org/drawingml/2006/table">
            <a:tbl>
              <a:tblPr firstRow="1" firstCol="1" bandRow="1">
                <a:tableStyleId>{5C22544A-7EE6-4342-B048-85BDC9FD1C3A}</a:tableStyleId>
              </a:tblPr>
              <a:tblGrid>
                <a:gridCol w="2345438">
                  <a:extLst>
                    <a:ext uri="{9D8B030D-6E8A-4147-A177-3AD203B41FA5}">
                      <a16:colId xmlns:a16="http://schemas.microsoft.com/office/drawing/2014/main" val="2706547844"/>
                    </a:ext>
                  </a:extLst>
                </a:gridCol>
                <a:gridCol w="2665982">
                  <a:extLst>
                    <a:ext uri="{9D8B030D-6E8A-4147-A177-3AD203B41FA5}">
                      <a16:colId xmlns:a16="http://schemas.microsoft.com/office/drawing/2014/main" val="1547886415"/>
                    </a:ext>
                  </a:extLst>
                </a:gridCol>
              </a:tblGrid>
              <a:tr h="0">
                <a:tc>
                  <a:txBody>
                    <a:bodyPr/>
                    <a:lstStyle/>
                    <a:p>
                      <a:pPr marL="0" marR="0" algn="ctr">
                        <a:lnSpc>
                          <a:spcPct val="115000"/>
                        </a:lnSpc>
                        <a:spcBef>
                          <a:spcPts val="0"/>
                        </a:spcBef>
                        <a:spcAft>
                          <a:spcPts val="0"/>
                        </a:spcAft>
                      </a:pPr>
                      <a:r>
                        <a:rPr lang="en-IN" sz="1800">
                          <a:effectLst/>
                        </a:rPr>
                        <a:t>Metric</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800">
                          <a:effectLst/>
                        </a:rPr>
                        <a:t>Value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195867768"/>
                  </a:ext>
                </a:extLst>
              </a:tr>
              <a:tr h="0">
                <a:tc>
                  <a:txBody>
                    <a:bodyPr/>
                    <a:lstStyle/>
                    <a:p>
                      <a:pPr marL="0" marR="0">
                        <a:lnSpc>
                          <a:spcPct val="115000"/>
                        </a:lnSpc>
                        <a:spcBef>
                          <a:spcPts val="0"/>
                        </a:spcBef>
                        <a:spcAft>
                          <a:spcPts val="0"/>
                        </a:spcAft>
                      </a:pPr>
                      <a:r>
                        <a:rPr lang="en-IN" sz="1800">
                          <a:effectLst/>
                        </a:rPr>
                        <a:t>ME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1.974793e-15</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109015410"/>
                  </a:ext>
                </a:extLst>
              </a:tr>
              <a:tr h="0">
                <a:tc>
                  <a:txBody>
                    <a:bodyPr/>
                    <a:lstStyle/>
                    <a:p>
                      <a:pPr marL="0" marR="0">
                        <a:lnSpc>
                          <a:spcPct val="115000"/>
                        </a:lnSpc>
                        <a:spcBef>
                          <a:spcPts val="0"/>
                        </a:spcBef>
                        <a:spcAft>
                          <a:spcPts val="0"/>
                        </a:spcAft>
                      </a:pPr>
                      <a:r>
                        <a:rPr lang="en-IN" sz="1800" dirty="0">
                          <a:effectLst/>
                        </a:rPr>
                        <a:t>RMSE</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5.319785e-01</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915945593"/>
                  </a:ext>
                </a:extLst>
              </a:tr>
              <a:tr h="0">
                <a:tc>
                  <a:txBody>
                    <a:bodyPr/>
                    <a:lstStyle/>
                    <a:p>
                      <a:pPr marL="0" marR="0">
                        <a:lnSpc>
                          <a:spcPct val="115000"/>
                        </a:lnSpc>
                        <a:spcBef>
                          <a:spcPts val="0"/>
                        </a:spcBef>
                        <a:spcAft>
                          <a:spcPts val="0"/>
                        </a:spcAft>
                      </a:pPr>
                      <a:r>
                        <a:rPr lang="en-IN" sz="1800">
                          <a:effectLst/>
                        </a:rPr>
                        <a:t>MAE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4.123348e-01</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023714496"/>
                  </a:ext>
                </a:extLst>
              </a:tr>
              <a:tr h="0">
                <a:tc>
                  <a:txBody>
                    <a:bodyPr/>
                    <a:lstStyle/>
                    <a:p>
                      <a:pPr marL="0" marR="0">
                        <a:lnSpc>
                          <a:spcPct val="115000"/>
                        </a:lnSpc>
                        <a:spcBef>
                          <a:spcPts val="0"/>
                        </a:spcBef>
                        <a:spcAft>
                          <a:spcPts val="0"/>
                        </a:spcAft>
                      </a:pPr>
                      <a:r>
                        <a:rPr lang="en-IN" sz="1800">
                          <a:effectLst/>
                        </a:rPr>
                        <a:t>MPE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a:effectLst/>
                        </a:rPr>
                        <a:t>-1.037603e+00</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823980889"/>
                  </a:ext>
                </a:extLst>
              </a:tr>
              <a:tr h="0">
                <a:tc>
                  <a:txBody>
                    <a:bodyPr/>
                    <a:lstStyle/>
                    <a:p>
                      <a:pPr marL="0" marR="0">
                        <a:lnSpc>
                          <a:spcPct val="115000"/>
                        </a:lnSpc>
                        <a:spcBef>
                          <a:spcPts val="0"/>
                        </a:spcBef>
                        <a:spcAft>
                          <a:spcPts val="0"/>
                        </a:spcAft>
                      </a:pPr>
                      <a:r>
                        <a:rPr lang="en-IN" sz="1800">
                          <a:effectLst/>
                        </a:rPr>
                        <a:t>MAPE</a:t>
                      </a:r>
                      <a:endParaRPr lang="en-IN" sz="20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800" dirty="0">
                          <a:effectLst/>
                        </a:rPr>
                        <a:t>8.179559e+00</a:t>
                      </a:r>
                      <a:endParaRPr lang="en-IN" sz="20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2058321148"/>
                  </a:ext>
                </a:extLst>
              </a:tr>
            </a:tbl>
          </a:graphicData>
        </a:graphic>
      </p:graphicFrame>
      <p:sp>
        <p:nvSpPr>
          <p:cNvPr id="10" name="TextBox 9">
            <a:extLst>
              <a:ext uri="{FF2B5EF4-FFF2-40B4-BE49-F238E27FC236}">
                <a16:creationId xmlns:a16="http://schemas.microsoft.com/office/drawing/2014/main" id="{5E5F4D9D-265A-0F3F-0B59-FE26060D5657}"/>
              </a:ext>
            </a:extLst>
          </p:cNvPr>
          <p:cNvSpPr txBox="1"/>
          <p:nvPr/>
        </p:nvSpPr>
        <p:spPr>
          <a:xfrm>
            <a:off x="6410696" y="1574742"/>
            <a:ext cx="5672759" cy="646331"/>
          </a:xfrm>
          <a:prstGeom prst="rect">
            <a:avLst/>
          </a:prstGeom>
          <a:noFill/>
        </p:spPr>
        <p:txBody>
          <a:bodyPr wrap="square">
            <a:spAutoFit/>
          </a:bodyPr>
          <a:lstStyle/>
          <a:p>
            <a:r>
              <a:rPr lang="en-US" dirty="0">
                <a:solidFill>
                  <a:schemeClr val="bg1">
                    <a:lumMod val="95000"/>
                  </a:schemeClr>
                </a:solidFill>
              </a:rPr>
              <a:t>The Accuracy metrics of model-3 validation data are given in the below table.</a:t>
            </a:r>
            <a:endParaRPr lang="en-IN" dirty="0">
              <a:solidFill>
                <a:schemeClr val="bg1">
                  <a:lumMod val="95000"/>
                </a:schemeClr>
              </a:solidFill>
            </a:endParaRPr>
          </a:p>
        </p:txBody>
      </p:sp>
      <p:graphicFrame>
        <p:nvGraphicFramePr>
          <p:cNvPr id="11" name="Table 10">
            <a:extLst>
              <a:ext uri="{FF2B5EF4-FFF2-40B4-BE49-F238E27FC236}">
                <a16:creationId xmlns:a16="http://schemas.microsoft.com/office/drawing/2014/main" id="{96ADFAAD-A6B4-BA3F-0F16-2BF19958264B}"/>
              </a:ext>
            </a:extLst>
          </p:cNvPr>
          <p:cNvGraphicFramePr>
            <a:graphicFrameLocks noGrp="1"/>
          </p:cNvGraphicFramePr>
          <p:nvPr>
            <p:extLst>
              <p:ext uri="{D42A27DB-BD31-4B8C-83A1-F6EECF244321}">
                <p14:modId xmlns:p14="http://schemas.microsoft.com/office/powerpoint/2010/main" val="3873392437"/>
              </p:ext>
            </p:extLst>
          </p:nvPr>
        </p:nvGraphicFramePr>
        <p:xfrm>
          <a:off x="6410696" y="2855214"/>
          <a:ext cx="5247460" cy="1897218"/>
        </p:xfrm>
        <a:graphic>
          <a:graphicData uri="http://schemas.openxmlformats.org/drawingml/2006/table">
            <a:tbl>
              <a:tblPr firstRow="1" firstCol="1" bandRow="1">
                <a:tableStyleId>{5C22544A-7EE6-4342-B048-85BDC9FD1C3A}</a:tableStyleId>
              </a:tblPr>
              <a:tblGrid>
                <a:gridCol w="2623730">
                  <a:extLst>
                    <a:ext uri="{9D8B030D-6E8A-4147-A177-3AD203B41FA5}">
                      <a16:colId xmlns:a16="http://schemas.microsoft.com/office/drawing/2014/main" val="3080164963"/>
                    </a:ext>
                  </a:extLst>
                </a:gridCol>
                <a:gridCol w="2623730">
                  <a:extLst>
                    <a:ext uri="{9D8B030D-6E8A-4147-A177-3AD203B41FA5}">
                      <a16:colId xmlns:a16="http://schemas.microsoft.com/office/drawing/2014/main" val="3601611231"/>
                    </a:ext>
                  </a:extLst>
                </a:gridCol>
              </a:tblGrid>
              <a:tr h="316203">
                <a:tc>
                  <a:txBody>
                    <a:bodyPr/>
                    <a:lstStyle/>
                    <a:p>
                      <a:pPr marL="0" marR="0" algn="ctr">
                        <a:lnSpc>
                          <a:spcPct val="115000"/>
                        </a:lnSpc>
                        <a:spcBef>
                          <a:spcPts val="0"/>
                        </a:spcBef>
                        <a:spcAft>
                          <a:spcPts val="0"/>
                        </a:spcAft>
                      </a:pPr>
                      <a:r>
                        <a:rPr lang="en-IN" sz="1600">
                          <a:effectLst/>
                        </a:rPr>
                        <a:t>Metrics</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gn="ctr">
                        <a:lnSpc>
                          <a:spcPct val="115000"/>
                        </a:lnSpc>
                        <a:spcBef>
                          <a:spcPts val="0"/>
                        </a:spcBef>
                        <a:spcAft>
                          <a:spcPts val="0"/>
                        </a:spcAft>
                      </a:pPr>
                      <a:r>
                        <a:rPr lang="en-IN" sz="1600">
                          <a:effectLst/>
                        </a:rPr>
                        <a:t>Value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3014671481"/>
                  </a:ext>
                </a:extLst>
              </a:tr>
              <a:tr h="316203">
                <a:tc>
                  <a:txBody>
                    <a:bodyPr/>
                    <a:lstStyle/>
                    <a:p>
                      <a:pPr marL="0" marR="0">
                        <a:lnSpc>
                          <a:spcPct val="115000"/>
                        </a:lnSpc>
                        <a:spcBef>
                          <a:spcPts val="0"/>
                        </a:spcBef>
                        <a:spcAft>
                          <a:spcPts val="0"/>
                        </a:spcAft>
                      </a:pPr>
                      <a:r>
                        <a:rPr lang="en-IN" sz="1600">
                          <a:effectLst/>
                        </a:rPr>
                        <a:t>ME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-0.088</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710217641"/>
                  </a:ext>
                </a:extLst>
              </a:tr>
              <a:tr h="316203">
                <a:tc>
                  <a:txBody>
                    <a:bodyPr/>
                    <a:lstStyle/>
                    <a:p>
                      <a:pPr marL="0" marR="0">
                        <a:lnSpc>
                          <a:spcPct val="115000"/>
                        </a:lnSpc>
                        <a:spcBef>
                          <a:spcPts val="0"/>
                        </a:spcBef>
                        <a:spcAft>
                          <a:spcPts val="0"/>
                        </a:spcAft>
                      </a:pPr>
                      <a:r>
                        <a:rPr lang="en-IN" sz="1600" dirty="0">
                          <a:effectLst/>
                        </a:rPr>
                        <a:t>RMSE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0.620</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4091534579"/>
                  </a:ext>
                </a:extLst>
              </a:tr>
              <a:tr h="316203">
                <a:tc>
                  <a:txBody>
                    <a:bodyPr/>
                    <a:lstStyle/>
                    <a:p>
                      <a:pPr marL="0" marR="0">
                        <a:lnSpc>
                          <a:spcPct val="115000"/>
                        </a:lnSpc>
                        <a:spcBef>
                          <a:spcPts val="0"/>
                        </a:spcBef>
                        <a:spcAft>
                          <a:spcPts val="0"/>
                        </a:spcAft>
                      </a:pPr>
                      <a:r>
                        <a:rPr lang="en-IN" sz="1600">
                          <a:effectLst/>
                        </a:rPr>
                        <a:t>MAE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0.504</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784597765"/>
                  </a:ext>
                </a:extLst>
              </a:tr>
              <a:tr h="316203">
                <a:tc>
                  <a:txBody>
                    <a:bodyPr/>
                    <a:lstStyle/>
                    <a:p>
                      <a:pPr marL="0" marR="0">
                        <a:lnSpc>
                          <a:spcPct val="115000"/>
                        </a:lnSpc>
                        <a:spcBef>
                          <a:spcPts val="0"/>
                        </a:spcBef>
                        <a:spcAft>
                          <a:spcPts val="0"/>
                        </a:spcAft>
                      </a:pPr>
                      <a:r>
                        <a:rPr lang="en-IN" sz="1600">
                          <a:effectLst/>
                        </a:rPr>
                        <a:t>MPE</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a:effectLst/>
                        </a:rPr>
                        <a:t>-3.380</a:t>
                      </a:r>
                      <a:endParaRPr lang="en-IN" sz="180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654107786"/>
                  </a:ext>
                </a:extLst>
              </a:tr>
              <a:tr h="316203">
                <a:tc>
                  <a:txBody>
                    <a:bodyPr/>
                    <a:lstStyle/>
                    <a:p>
                      <a:pPr marL="0" marR="0">
                        <a:lnSpc>
                          <a:spcPct val="115000"/>
                        </a:lnSpc>
                        <a:spcBef>
                          <a:spcPts val="0"/>
                        </a:spcBef>
                        <a:spcAft>
                          <a:spcPts val="0"/>
                        </a:spcAft>
                      </a:pPr>
                      <a:r>
                        <a:rPr lang="en-IN" sz="1600" dirty="0">
                          <a:effectLst/>
                        </a:rPr>
                        <a:t>MAPE</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tc>
                  <a:txBody>
                    <a:bodyPr/>
                    <a:lstStyle/>
                    <a:p>
                      <a:pPr marL="0" marR="0">
                        <a:lnSpc>
                          <a:spcPct val="115000"/>
                        </a:lnSpc>
                        <a:spcBef>
                          <a:spcPts val="0"/>
                        </a:spcBef>
                        <a:spcAft>
                          <a:spcPts val="0"/>
                        </a:spcAft>
                      </a:pPr>
                      <a:r>
                        <a:rPr lang="en-IN" sz="1600" dirty="0">
                          <a:effectLst/>
                        </a:rPr>
                        <a:t>10.063</a:t>
                      </a:r>
                      <a:endParaRPr lang="en-IN" sz="1800" dirty="0">
                        <a:solidFill>
                          <a:srgbClr val="000000"/>
                        </a:solidFill>
                        <a:effectLst/>
                        <a:latin typeface="Arial" panose="020B0604020202020204" pitchFamily="34" charset="0"/>
                        <a:ea typeface="Arial" panose="020B0604020202020204" pitchFamily="34" charset="0"/>
                      </a:endParaRPr>
                    </a:p>
                  </a:txBody>
                  <a:tcPr marL="9525" marR="9525" marT="9525" marB="9525" anchor="b"/>
                </a:tc>
                <a:extLst>
                  <a:ext uri="{0D108BD9-81ED-4DB2-BD59-A6C34878D82A}">
                    <a16:rowId xmlns:a16="http://schemas.microsoft.com/office/drawing/2014/main" val="1246112095"/>
                  </a:ext>
                </a:extLst>
              </a:tr>
            </a:tbl>
          </a:graphicData>
        </a:graphic>
      </p:graphicFrame>
      <p:sp>
        <p:nvSpPr>
          <p:cNvPr id="15" name="TextBox 14">
            <a:extLst>
              <a:ext uri="{FF2B5EF4-FFF2-40B4-BE49-F238E27FC236}">
                <a16:creationId xmlns:a16="http://schemas.microsoft.com/office/drawing/2014/main" id="{F052A806-1D9D-2E79-E0F5-7AD39C9056E2}"/>
              </a:ext>
            </a:extLst>
          </p:cNvPr>
          <p:cNvSpPr txBox="1"/>
          <p:nvPr/>
        </p:nvSpPr>
        <p:spPr>
          <a:xfrm>
            <a:off x="3327318" y="5201585"/>
            <a:ext cx="6096000" cy="923330"/>
          </a:xfrm>
          <a:prstGeom prst="rect">
            <a:avLst/>
          </a:prstGeom>
          <a:noFill/>
        </p:spPr>
        <p:txBody>
          <a:bodyPr wrap="square">
            <a:spAutoFit/>
          </a:bodyPr>
          <a:lstStyle/>
          <a:p>
            <a:r>
              <a:rPr lang="en-US" dirty="0">
                <a:solidFill>
                  <a:schemeClr val="bg1">
                    <a:lumMod val="95000"/>
                  </a:schemeClr>
                </a:solidFill>
              </a:rPr>
              <a:t>Among all the model-1 with Economy, Family, Health, Freedom and Trust (Government Corruption) is best model with lowest RMSE value.</a:t>
            </a:r>
            <a:endParaRPr lang="en-IN" dirty="0">
              <a:solidFill>
                <a:schemeClr val="bg1">
                  <a:lumMod val="95000"/>
                </a:schemeClr>
              </a:solidFill>
            </a:endParaRPr>
          </a:p>
        </p:txBody>
      </p:sp>
    </p:spTree>
    <p:extLst>
      <p:ext uri="{BB962C8B-B14F-4D97-AF65-F5344CB8AC3E}">
        <p14:creationId xmlns:p14="http://schemas.microsoft.com/office/powerpoint/2010/main" val="2412356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1212775" y="434263"/>
            <a:ext cx="9906000" cy="693382"/>
          </a:xfrm>
        </p:spPr>
        <p:txBody>
          <a:bodyPr/>
          <a:lstStyle/>
          <a:p>
            <a:r>
              <a:rPr lang="en-US" dirty="0"/>
              <a:t>Linear regression analysis</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493271" y="3071376"/>
            <a:ext cx="5537364" cy="357624"/>
          </a:xfrm>
        </p:spPr>
        <p:txBody>
          <a:bodyPr/>
          <a:lstStyle/>
          <a:p>
            <a:pPr algn="l"/>
            <a:r>
              <a:rPr lang="en-US" dirty="0"/>
              <a:t>By observing the histogram of residuals and noting that it closely resembles a normal distribution</a:t>
            </a:r>
          </a:p>
        </p:txBody>
      </p:sp>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13</a:t>
            </a:fld>
            <a:endParaRPr lang="en-US" dirty="0"/>
          </a:p>
        </p:txBody>
      </p:sp>
      <p:pic>
        <p:nvPicPr>
          <p:cNvPr id="5" name="Picture 4">
            <a:extLst>
              <a:ext uri="{FF2B5EF4-FFF2-40B4-BE49-F238E27FC236}">
                <a16:creationId xmlns:a16="http://schemas.microsoft.com/office/drawing/2014/main" id="{FFFD8DCE-FF58-8CC6-5F82-99C0DA41F3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5309" y="2141020"/>
            <a:ext cx="5889625" cy="3634740"/>
          </a:xfrm>
          <a:prstGeom prst="rect">
            <a:avLst/>
          </a:prstGeom>
          <a:noFill/>
        </p:spPr>
      </p:pic>
      <p:sp>
        <p:nvSpPr>
          <p:cNvPr id="10" name="TextBox 9">
            <a:extLst>
              <a:ext uri="{FF2B5EF4-FFF2-40B4-BE49-F238E27FC236}">
                <a16:creationId xmlns:a16="http://schemas.microsoft.com/office/drawing/2014/main" id="{457199BB-1AC4-1EC2-61A6-44670984041F}"/>
              </a:ext>
            </a:extLst>
          </p:cNvPr>
          <p:cNvSpPr txBox="1"/>
          <p:nvPr/>
        </p:nvSpPr>
        <p:spPr>
          <a:xfrm>
            <a:off x="475308" y="1449666"/>
            <a:ext cx="6823849" cy="400110"/>
          </a:xfrm>
          <a:prstGeom prst="rect">
            <a:avLst/>
          </a:prstGeom>
          <a:noFill/>
        </p:spPr>
        <p:txBody>
          <a:bodyPr wrap="square">
            <a:spAutoFit/>
          </a:bodyPr>
          <a:lstStyle/>
          <a:p>
            <a:r>
              <a:rPr lang="en-US" sz="2000" dirty="0">
                <a:solidFill>
                  <a:schemeClr val="bg1">
                    <a:lumMod val="95000"/>
                  </a:schemeClr>
                </a:solidFill>
              </a:rPr>
              <a:t>The Histogram residuals of the best model is plotted below.</a:t>
            </a:r>
            <a:endParaRPr lang="en-IN" sz="2000" dirty="0">
              <a:solidFill>
                <a:schemeClr val="bg1">
                  <a:lumMod val="95000"/>
                </a:schemeClr>
              </a:solidFill>
            </a:endParaRPr>
          </a:p>
        </p:txBody>
      </p:sp>
    </p:spTree>
    <p:extLst>
      <p:ext uri="{BB962C8B-B14F-4D97-AF65-F5344CB8AC3E}">
        <p14:creationId xmlns:p14="http://schemas.microsoft.com/office/powerpoint/2010/main" val="126393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4C2A7-EC84-4D8C-9CA2-F6AE46F51FB6}"/>
              </a:ext>
            </a:extLst>
          </p:cNvPr>
          <p:cNvSpPr>
            <a:spLocks noGrp="1"/>
          </p:cNvSpPr>
          <p:nvPr>
            <p:ph type="title"/>
          </p:nvPr>
        </p:nvSpPr>
        <p:spPr>
          <a:xfrm>
            <a:off x="6856132" y="523222"/>
            <a:ext cx="3623609" cy="940181"/>
          </a:xfrm>
        </p:spPr>
        <p:txBody>
          <a:bodyPr/>
          <a:lstStyle/>
          <a:p>
            <a:r>
              <a:rPr lang="en-US" dirty="0"/>
              <a:t>CONCLUSION</a:t>
            </a:r>
          </a:p>
        </p:txBody>
      </p:sp>
      <p:sp>
        <p:nvSpPr>
          <p:cNvPr id="3" name="Text Placeholder 2">
            <a:extLst>
              <a:ext uri="{FF2B5EF4-FFF2-40B4-BE49-F238E27FC236}">
                <a16:creationId xmlns:a16="http://schemas.microsoft.com/office/drawing/2014/main" id="{56960426-AAA6-4126-93AF-30F7DEE010A4}"/>
              </a:ext>
            </a:extLst>
          </p:cNvPr>
          <p:cNvSpPr>
            <a:spLocks noGrp="1"/>
          </p:cNvSpPr>
          <p:nvPr>
            <p:ph type="body" idx="1"/>
          </p:nvPr>
        </p:nvSpPr>
        <p:spPr>
          <a:xfrm>
            <a:off x="6206400" y="1730188"/>
            <a:ext cx="5985600" cy="357624"/>
          </a:xfrm>
        </p:spPr>
        <p:txBody>
          <a:bodyPr/>
          <a:lstStyle/>
          <a:p>
            <a:pPr algn="l"/>
            <a:r>
              <a:rPr lang="en-US" dirty="0"/>
              <a:t>The model-1, which includes the predictor variables Economy (GDP per Capita), Family, Health (Life Expectancy), Freedom, Trust (Government Corruption), is the best model as it has the lowest residual errors and the residuals are normally distributed. This suggests that these predictor variables have a strong relationship with the target variable Happiness Score and can be used to accurately classify it. This model can be used for future predictions and for understanding the factors that contribute to happiness in a country.</a:t>
            </a:r>
          </a:p>
        </p:txBody>
      </p:sp>
      <p:pic>
        <p:nvPicPr>
          <p:cNvPr id="11" name="Picture Placeholder 10" descr="city skyline">
            <a:extLst>
              <a:ext uri="{FF2B5EF4-FFF2-40B4-BE49-F238E27FC236}">
                <a16:creationId xmlns:a16="http://schemas.microsoft.com/office/drawing/2014/main" id="{9D82A855-CCB0-4075-B5EE-5CC6FD176DB4}"/>
              </a:ext>
            </a:extLst>
          </p:cNvPr>
          <p:cNvPicPr>
            <a:picLocks noGrp="1" noChangeAspect="1"/>
          </p:cNvPicPr>
          <p:nvPr>
            <p:ph type="pic" sz="quarter" idx="13"/>
          </p:nvPr>
        </p:nvPicPr>
        <p:blipFill>
          <a:blip r:embed="rId3" cstate="print">
            <a:extLst>
              <a:ext uri="{28A0092B-C50C-407E-A947-70E740481C1C}">
                <a14:useLocalDpi xmlns:a14="http://schemas.microsoft.com/office/drawing/2010/main"/>
              </a:ext>
            </a:extLst>
          </a:blip>
          <a:srcRect/>
          <a:stretch>
            <a:fillRect/>
          </a:stretch>
        </p:blipFill>
        <p:spPr>
          <a:xfrm>
            <a:off x="0" y="2087812"/>
            <a:ext cx="6206400" cy="4587625"/>
          </a:xfrm>
        </p:spPr>
      </p:pic>
      <p:sp>
        <p:nvSpPr>
          <p:cNvPr id="4" name="Slide Number Placeholder 3">
            <a:extLst>
              <a:ext uri="{FF2B5EF4-FFF2-40B4-BE49-F238E27FC236}">
                <a16:creationId xmlns:a16="http://schemas.microsoft.com/office/drawing/2014/main" id="{D66E959E-B23F-467A-9B6E-30F9EE969EC2}"/>
              </a:ext>
            </a:extLst>
          </p:cNvPr>
          <p:cNvSpPr>
            <a:spLocks noGrp="1"/>
          </p:cNvSpPr>
          <p:nvPr>
            <p:ph type="sldNum" sz="quarter" idx="12"/>
          </p:nvPr>
        </p:nvSpPr>
        <p:spPr/>
        <p:txBody>
          <a:bodyPr/>
          <a:lstStyle/>
          <a:p>
            <a:fld id="{9EC71654-96A5-4280-94F3-931C61A9F92C}" type="slidenum">
              <a:rPr lang="en-US" smtClean="0"/>
              <a:pPr/>
              <a:t>14</a:t>
            </a:fld>
            <a:endParaRPr lang="en-US" dirty="0"/>
          </a:p>
        </p:txBody>
      </p:sp>
    </p:spTree>
    <p:extLst>
      <p:ext uri="{BB962C8B-B14F-4D97-AF65-F5344CB8AC3E}">
        <p14:creationId xmlns:p14="http://schemas.microsoft.com/office/powerpoint/2010/main" val="3950988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9" descr="cityscape">
            <a:extLst>
              <a:ext uri="{FF2B5EF4-FFF2-40B4-BE49-F238E27FC236}">
                <a16:creationId xmlns:a16="http://schemas.microsoft.com/office/drawing/2014/main" id="{63493B9E-F6F8-4C0F-9706-CA547A8B2B3F}"/>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t="39" b="39"/>
          <a:stretch>
            <a:fillRect/>
          </a:stretch>
        </p:blipFill>
        <p:spPr/>
      </p:pic>
      <p:sp>
        <p:nvSpPr>
          <p:cNvPr id="6" name="Title 5">
            <a:extLst>
              <a:ext uri="{FF2B5EF4-FFF2-40B4-BE49-F238E27FC236}">
                <a16:creationId xmlns:a16="http://schemas.microsoft.com/office/drawing/2014/main" id="{95D612B9-68B9-4C9F-98FE-CEE07DB1F00D}"/>
              </a:ext>
            </a:extLst>
          </p:cNvPr>
          <p:cNvSpPr>
            <a:spLocks noGrp="1"/>
          </p:cNvSpPr>
          <p:nvPr>
            <p:ph type="title"/>
          </p:nvPr>
        </p:nvSpPr>
        <p:spPr>
          <a:xfrm>
            <a:off x="6469777" y="3158641"/>
            <a:ext cx="5722223" cy="921807"/>
          </a:xfrm>
        </p:spPr>
        <p:txBody>
          <a:bodyPr/>
          <a:lstStyle/>
          <a:p>
            <a:r>
              <a:rPr lang="en-US" dirty="0"/>
              <a:t>Thank you!</a:t>
            </a:r>
          </a:p>
        </p:txBody>
      </p:sp>
      <p:sp>
        <p:nvSpPr>
          <p:cNvPr id="2" name="Rectangle 1">
            <a:extLst>
              <a:ext uri="{FF2B5EF4-FFF2-40B4-BE49-F238E27FC236}">
                <a16:creationId xmlns:a16="http://schemas.microsoft.com/office/drawing/2014/main" id="{3E467B83-20B9-5717-4F8B-247E443125E6}"/>
              </a:ext>
            </a:extLst>
          </p:cNvPr>
          <p:cNvSpPr/>
          <p:nvPr/>
        </p:nvSpPr>
        <p:spPr>
          <a:xfrm>
            <a:off x="6175529" y="4400643"/>
            <a:ext cx="1846729" cy="1085757"/>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B88359CE-2476-3D0D-EAE1-F780B363851E}"/>
              </a:ext>
            </a:extLst>
          </p:cNvPr>
          <p:cNvSpPr/>
          <p:nvPr/>
        </p:nvSpPr>
        <p:spPr>
          <a:xfrm>
            <a:off x="9995647" y="384455"/>
            <a:ext cx="1846729" cy="753035"/>
          </a:xfrm>
          <a:prstGeom prst="rect">
            <a:avLst/>
          </a:prstGeom>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4779538"/>
      </p:ext>
    </p:extLst>
  </p:cSld>
  <p:clrMapOvr>
    <a:masterClrMapping/>
  </p:clrMapOvr>
</p:sld>
</file>

<file path=ppt/theme/theme1.xml><?xml version="1.0" encoding="utf-8"?>
<a:theme xmlns:a="http://schemas.openxmlformats.org/drawingml/2006/main" name="Office Them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4076243_Blue spheres presentation_RVA_v5" id="{E4C0B511-76E7-4C07-AFEA-8FEA0A5A8C84}" vid="{3A463146-28EF-4F73-B63C-03710F66E2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Blue spheres presentation</Template>
  <TotalTime>0</TotalTime>
  <Words>1384</Words>
  <Application>Microsoft Office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Corbel</vt:lpstr>
      <vt:lpstr>Office Theme</vt:lpstr>
      <vt:lpstr>Linear regression analysis</vt:lpstr>
      <vt:lpstr>ABSTRACTION</vt:lpstr>
      <vt:lpstr>DATA</vt:lpstr>
      <vt:lpstr>Linear regression analysis</vt:lpstr>
      <vt:lpstr>Linear regression analysis</vt:lpstr>
      <vt:lpstr>Linear regression analysis</vt:lpstr>
      <vt:lpstr>Linear regression analysis</vt:lpstr>
      <vt:lpstr>Linear regression analysis</vt:lpstr>
      <vt:lpstr>Linear regression analysis</vt:lpstr>
      <vt:lpstr>Linear regression analysis</vt:lpstr>
      <vt:lpstr>Linear regression analysis</vt:lpstr>
      <vt:lpstr>Linear regression analysis</vt:lpstr>
      <vt:lpstr>Linear regression analysis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2023-09-08T07:25:36Z</dcterms:created>
  <dcterms:modified xsi:type="dcterms:W3CDTF">2023-09-08T07:25:57Z</dcterms:modified>
</cp:coreProperties>
</file>